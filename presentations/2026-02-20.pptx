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template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5pPr>
    <a:lvl6pPr marL="22860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6pPr>
    <a:lvl7pPr marL="27432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7pPr>
    <a:lvl8pPr marL="32004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8pPr>
    <a:lvl9pPr marL="36576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55" d="100"/>
          <a:sy n="155" d="100"/>
        </p:scale>
        <p:origin x="-2040" y="-2000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0326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02175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31950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709892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340687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550980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64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457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222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98C8C3-A912-5BAF-C510-1350369CE6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66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055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4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F64C6F-5FAD-78C8-673E-CE2C47F374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353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217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1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CD4A44-994F-A930-3C3B-CF389B6C2C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3791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9375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141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4C1EB2-D51B-5C9A-EBEC-03CD70BC05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84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546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747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4C4ADC-7E84-BC30-AC57-74D9A62D86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751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228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68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70C77A-2499-3C36-AEE8-C99B5A13C5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675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753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41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CA4E17-9930-C42F-CD46-C438382D3F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994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593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646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AA776-547A-C487-DCB1-5DC13FCB48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36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2967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503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E965D-D029-9720-457F-3B28EDFCA7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50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8656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034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6A3B9-AED9-31EF-23BA-087E5ED191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094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4503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215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E78E46-55EB-BDFF-65AA-F223B45C19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980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088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90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2E4A4-6EE3-EDC4-697C-409B364D4C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30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486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96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C9244-9F0E-DF3A-734E-5FA8A792ED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759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942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062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866B3F-AB0F-B48A-D110-B64DBB974A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420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894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189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319FC7-B2F0-C779-CB28-681B359888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605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966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227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1C831F-5362-E660-8933-CCF7D53F05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67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2611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70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C7E35-A03A-8B2E-A9BB-E70D8B958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90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740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484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C3723D-1BE3-26CD-799B-A4B604D7EC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290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634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225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13005-4EBF-EBCC-59F0-698E62E32F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206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152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85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83DAB9-263E-99C2-3148-D85E97647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576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232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884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0BC1F9-FEF1-FA24-DFEC-C66E3F61FA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97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820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147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68C8CC-28AA-B9D6-78BE-E7EA431A47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404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4499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19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3619F-E72A-BF2D-3C49-70FCC9A7E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865157" name="Title 1"/>
          <p:cNvSpPr>
            <a:spLocks noGrp="1"/>
          </p:cNvSpPr>
          <p:nvPr>
            <p:ph type="ctrTitle"/>
          </p:nvPr>
        </p:nvSpPr>
        <p:spPr bwMode="auto">
          <a:xfrm>
            <a:off x="685800" y="1597820"/>
            <a:ext cx="7772400" cy="11025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34945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39057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t>4/9/15</a:t>
            </a:fld>
            <a:endParaRPr lang="en-US"/>
          </a:p>
        </p:txBody>
      </p:sp>
      <p:sp>
        <p:nvSpPr>
          <p:cNvPr id="123896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52377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2942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31553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75288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t>4/9/15</a:t>
            </a:fld>
            <a:endParaRPr lang="en-US"/>
          </a:p>
        </p:txBody>
      </p:sp>
      <p:sp>
        <p:nvSpPr>
          <p:cNvPr id="10847411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05045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797267" name="Title 1"/>
          <p:cNvSpPr>
            <a:spLocks noGrp="1"/>
          </p:cNvSpPr>
          <p:nvPr>
            <p:ph type="title"/>
          </p:nvPr>
        </p:nvSpPr>
        <p:spPr bwMode="auto"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40351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27364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t>4/9/15</a:t>
            </a:fld>
            <a:endParaRPr lang="en-US"/>
          </a:p>
        </p:txBody>
      </p:sp>
      <p:sp>
        <p:nvSpPr>
          <p:cNvPr id="20297507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55987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0300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0411263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4146158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9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81107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t>4/9/15</a:t>
            </a:fld>
            <a:endParaRPr lang="en-US"/>
          </a:p>
        </p:txBody>
      </p:sp>
      <p:sp>
        <p:nvSpPr>
          <p:cNvPr id="10963409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73621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81063" name="Title 1"/>
          <p:cNvSpPr>
            <a:spLocks noGrp="1"/>
          </p:cNvSpPr>
          <p:nvPr>
            <p:ph type="title"/>
          </p:nvPr>
        </p:nvSpPr>
        <p:spPr bwMode="auto">
          <a:xfrm>
            <a:off x="457202" y="457429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3088688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57200" y="1258719"/>
            <a:ext cx="4040187" cy="33359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9926701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4645027" y="1258719"/>
            <a:ext cx="4041774" cy="33359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847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t>4/9/15</a:t>
            </a:fld>
            <a:endParaRPr lang="en-US"/>
          </a:p>
        </p:txBody>
      </p:sp>
      <p:sp>
        <p:nvSpPr>
          <p:cNvPr id="20876209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47037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398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89437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t>4/9/15</a:t>
            </a:fld>
            <a:endParaRPr lang="en-US"/>
          </a:p>
        </p:txBody>
      </p:sp>
      <p:sp>
        <p:nvSpPr>
          <p:cNvPr id="1768337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4308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746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t>4/9/15</a:t>
            </a:fld>
            <a:endParaRPr lang="en-US"/>
          </a:p>
        </p:txBody>
      </p:sp>
      <p:sp>
        <p:nvSpPr>
          <p:cNvPr id="8787303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1019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139590" name="Title 1"/>
          <p:cNvSpPr>
            <a:spLocks noGrp="1"/>
          </p:cNvSpPr>
          <p:nvPr>
            <p:ph type="title"/>
          </p:nvPr>
        </p:nvSpPr>
        <p:spPr bwMode="auto"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99256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1508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52101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t>4/9/15</a:t>
            </a:fld>
            <a:endParaRPr lang="en-US"/>
          </a:p>
        </p:txBody>
      </p:sp>
      <p:sp>
        <p:nvSpPr>
          <p:cNvPr id="18584062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02128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98248" name="Title 1"/>
          <p:cNvSpPr>
            <a:spLocks noGrp="1"/>
          </p:cNvSpPr>
          <p:nvPr>
            <p:ph type="title"/>
          </p:nvPr>
        </p:nvSpPr>
        <p:spPr bwMode="auto"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172632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751019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69548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t>4/9/15</a:t>
            </a:fld>
            <a:endParaRPr lang="en-US"/>
          </a:p>
        </p:txBody>
      </p:sp>
      <p:sp>
        <p:nvSpPr>
          <p:cNvPr id="13594405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2303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530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7527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9673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t>4/9/15</a:t>
            </a:fld>
            <a:endParaRPr lang="en-US"/>
          </a:p>
        </p:txBody>
      </p:sp>
      <p:sp>
        <p:nvSpPr>
          <p:cNvPr id="81628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24319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77562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80"/>
            <a:ext cx="20574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104610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80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02280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t>4/9/15</a:t>
            </a:fld>
            <a:endParaRPr lang="en-US"/>
          </a:p>
        </p:txBody>
      </p:sp>
      <p:sp>
        <p:nvSpPr>
          <p:cNvPr id="18547858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3491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2854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457200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Headline Line One</a:t>
            </a:r>
            <a:br>
              <a:rPr lang="en-US"/>
            </a:br>
            <a:r>
              <a:rPr lang="en-US"/>
              <a:t>Headline Line Two</a:t>
            </a:r>
            <a:endParaRPr/>
          </a:p>
        </p:txBody>
      </p:sp>
      <p:sp>
        <p:nvSpPr>
          <p:cNvPr id="11125343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57199" y="1258489"/>
            <a:ext cx="8229600" cy="33361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45886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/>
              <a:t>4/9/15</a:t>
            </a:fld>
            <a:endParaRPr lang="en-US"/>
          </a:p>
        </p:txBody>
      </p:sp>
      <p:sp>
        <p:nvSpPr>
          <p:cNvPr id="14989780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97892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t>‹#›</a:t>
            </a:fld>
            <a:endParaRPr lang="en-US"/>
          </a:p>
        </p:txBody>
      </p:sp>
      <p:pic>
        <p:nvPicPr>
          <p:cNvPr id="677474878" name="Picture 7"/>
          <p:cNvPicPr>
            <a:picLocks noChangeAspect="1"/>
          </p:cNvPicPr>
          <p:nvPr userDrawn="1"/>
        </p:nvPicPr>
        <p:blipFill rotWithShape="1">
          <a:blip r:embed="rId13"/>
          <a:stretch/>
        </p:blipFill>
        <p:spPr bwMode="auto"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  <a:cs typeface="Arial"/>
        </a:defRPr>
      </a:lvl1pPr>
      <a:lvl2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Arial"/>
          <a:ea typeface="ＭＳ Ｐゴシック"/>
          <a:cs typeface="Arial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400">
          <a:solidFill>
            <a:schemeClr val="tx1"/>
          </a:solidFill>
          <a:latin typeface="Arial"/>
          <a:ea typeface="ＭＳ Ｐゴシック"/>
          <a:cs typeface="Arial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Arial"/>
          <a:ea typeface="ＭＳ Ｐゴシック"/>
          <a:cs typeface="Arial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1400">
          <a:solidFill>
            <a:schemeClr val="tx1"/>
          </a:solidFill>
          <a:latin typeface="Arial"/>
          <a:ea typeface="ＭＳ Ｐゴシック"/>
          <a:cs typeface="Arial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1000">
          <a:solidFill>
            <a:schemeClr val="tx1"/>
          </a:solidFill>
          <a:latin typeface="Arial"/>
          <a:ea typeface="ＭＳ Ｐゴシック"/>
          <a:cs typeface="Arial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41635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Arial"/>
              </a:rPr>
              <a:t>SciantixML</a:t>
            </a:r>
            <a:endParaRPr lang="en-US">
              <a:latin typeface="Arial"/>
            </a:endParaRPr>
          </a:p>
        </p:txBody>
      </p:sp>
      <p:sp>
        <p:nvSpPr>
          <p:cNvPr id="275139554" name="Subtitle 2"/>
          <p:cNvSpPr>
            <a:spLocks noGrp="1"/>
          </p:cNvSpPr>
          <p:nvPr>
            <p:ph type="subTitle" idx="1"/>
          </p:nvPr>
        </p:nvSpPr>
        <p:spPr bwMode="auto"/>
        <p:txBody>
          <a:bodyPr rtlCol="0">
            <a:normAutofit/>
          </a:bodyPr>
          <a:lstStyle/>
          <a:p>
            <a:pPr>
              <a:spcAft>
                <a:spcPts val="0"/>
              </a:spcAft>
              <a:buFont typeface="Arial"/>
              <a:buNone/>
              <a:defRPr/>
            </a:pPr>
            <a:r>
              <a:rPr lang="en-US">
                <a:ea typeface="+mn-ea"/>
              </a:rPr>
              <a:t>Fletcher Smith</a:t>
            </a:r>
            <a:endParaRPr lang="en-US">
              <a:ea typeface="Arial"/>
            </a:endParaRPr>
          </a:p>
          <a:p>
            <a:pPr>
              <a:spcAft>
                <a:spcPts val="0"/>
              </a:spcAft>
              <a:buFont typeface="Arial"/>
              <a:buNone/>
              <a:defRPr/>
            </a:pPr>
            <a:r>
              <a:rPr lang="en-US">
                <a:ea typeface="Arial"/>
              </a:rPr>
              <a:t>February 20, 2026</a:t>
            </a:r>
            <a:endParaRPr lang="en-US"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018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Outline</a:t>
            </a:r>
            <a:endParaRPr/>
          </a:p>
        </p:txBody>
      </p:sp>
      <p:sp>
        <p:nvSpPr>
          <p:cNvPr id="3722116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Neural Networks</a:t>
            </a:r>
            <a:endParaRPr/>
          </a:p>
          <a:p>
            <a:pPr lvl="1">
              <a:defRPr/>
            </a:pPr>
            <a:r>
              <a:rPr/>
              <a:t>Perceptron</a:t>
            </a:r>
            <a:endParaRPr/>
          </a:p>
          <a:p>
            <a:pPr lvl="1">
              <a:defRPr/>
            </a:pPr>
            <a:r>
              <a:rPr/>
              <a:t>Multi-Layer Perceptron</a:t>
            </a:r>
            <a:endParaRPr/>
          </a:p>
          <a:p>
            <a:pPr lvl="1">
              <a:defRPr/>
            </a:pPr>
            <a:r>
              <a:rPr/>
              <a:t>Recursive Neural Networks (RNNs)</a:t>
            </a:r>
            <a:endParaRPr/>
          </a:p>
          <a:p>
            <a:pPr lvl="1">
              <a:defRPr/>
            </a:pPr>
            <a:r>
              <a:rPr/>
              <a:t>NeuralODE</a:t>
            </a:r>
            <a:endParaRPr/>
          </a:p>
          <a:p>
            <a:pPr lvl="0">
              <a:defRPr/>
            </a:pPr>
            <a:r>
              <a:rPr/>
              <a:t>Gathering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030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Neural Networks</a:t>
            </a:r>
            <a:endParaRPr/>
          </a:p>
        </p:txBody>
      </p:sp>
      <p:sp>
        <p:nvSpPr>
          <p:cNvPr id="569024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501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Neurons</a:t>
            </a:r>
            <a:endParaRPr/>
          </a:p>
        </p:txBody>
      </p:sp>
      <p:sp>
        <p:nvSpPr>
          <p:cNvPr id="650225147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Neurons receive signals via their dendrites</a:t>
            </a:r>
            <a:endParaRPr/>
          </a:p>
          <a:p>
            <a:pPr>
              <a:defRPr/>
            </a:pPr>
            <a:r>
              <a:rPr/>
              <a:t>Once they neuron’s action potential has been reached, it sends an electrical signal to the axon</a:t>
            </a:r>
            <a:endParaRPr/>
          </a:p>
          <a:p>
            <a:pPr>
              <a:defRPr/>
            </a:pPr>
            <a:r>
              <a:rPr/>
              <a:t>The axon signals to other neurons</a:t>
            </a:r>
            <a:endParaRPr/>
          </a:p>
        </p:txBody>
      </p:sp>
      <p:pic>
        <p:nvPicPr>
          <p:cNvPr id="1756867078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4648197" y="1931863"/>
            <a:ext cx="4038598" cy="198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9215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</a:t>
            </a:r>
            <a:endParaRPr/>
          </a:p>
        </p:txBody>
      </p:sp>
      <p:sp>
        <p:nvSpPr>
          <p:cNvPr id="8521544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364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</a:t>
            </a:r>
            <a:endParaRPr/>
          </a:p>
        </p:txBody>
      </p:sp>
      <p:sp>
        <p:nvSpPr>
          <p:cNvPr id="910081153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3264950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Published by </a:t>
            </a:r>
            <a:r>
              <a:rPr/>
              <a:t>Frank Rosenblatt in 1958</a:t>
            </a:r>
            <a:endParaRPr/>
          </a:p>
          <a:p>
            <a:pPr>
              <a:defRPr/>
            </a:pPr>
            <a:r>
              <a:rPr/>
              <a:t>Multiplies input by a weight and takes the sum</a:t>
            </a:r>
            <a:endParaRPr/>
          </a:p>
          <a:p>
            <a:pPr>
              <a:defRPr/>
            </a:pPr>
            <a:r>
              <a:rPr/>
              <a:t>If sum exceeded a threshold, output 1</a:t>
            </a:r>
            <a:endParaRPr/>
          </a:p>
          <a:p>
            <a:pPr>
              <a:defRPr/>
            </a:pPr>
            <a:r>
              <a:rPr/>
              <a:t>If not, output 0 </a:t>
            </a:r>
            <a:endParaRPr/>
          </a:p>
        </p:txBody>
      </p:sp>
      <p:pic>
        <p:nvPicPr>
          <p:cNvPr id="1540806962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3914127" y="1733387"/>
            <a:ext cx="4772669" cy="2386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8413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Example</a:t>
            </a:r>
            <a:r>
              <a:rPr/>
              <a:t> – Good Pizza</a:t>
            </a:r>
            <a:endParaRPr/>
          </a:p>
        </p:txBody>
      </p:sp>
      <p:sp>
        <p:nvSpPr>
          <p:cNvPr id="1922987628" name=""/>
          <p:cNvSpPr txBox="1"/>
          <p:nvPr/>
        </p:nvSpPr>
        <p:spPr bwMode="auto">
          <a:xfrm rot="0" flipH="0" flipV="0">
            <a:off x="524298" y="1258489"/>
            <a:ext cx="1629816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Pepperoni</a:t>
            </a:r>
            <a:endParaRPr/>
          </a:p>
          <a:p>
            <a:pPr algn="ctr">
              <a:defRPr/>
            </a:pPr>
            <a:r>
              <a:rPr/>
              <a:t>10</a:t>
            </a:r>
            <a:endParaRPr/>
          </a:p>
        </p:txBody>
      </p:sp>
      <p:sp>
        <p:nvSpPr>
          <p:cNvPr id="1363976368" name=""/>
          <p:cNvSpPr txBox="1"/>
          <p:nvPr/>
        </p:nvSpPr>
        <p:spPr bwMode="auto">
          <a:xfrm rot="0" flipH="0" flipV="0">
            <a:off x="537616" y="2143384"/>
            <a:ext cx="1635935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Cheese</a:t>
            </a:r>
            <a:endParaRPr/>
          </a:p>
          <a:p>
            <a:pPr algn="ctr">
              <a:defRPr/>
            </a:pPr>
            <a:r>
              <a:rPr/>
              <a:t>5</a:t>
            </a:r>
            <a:endParaRPr/>
          </a:p>
        </p:txBody>
      </p:sp>
      <p:sp>
        <p:nvSpPr>
          <p:cNvPr id="633514490" name=""/>
          <p:cNvSpPr txBox="1"/>
          <p:nvPr/>
        </p:nvSpPr>
        <p:spPr bwMode="auto">
          <a:xfrm rot="0" flipH="0" flipV="0">
            <a:off x="512420" y="3142843"/>
            <a:ext cx="1641694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Veggies</a:t>
            </a:r>
            <a:endParaRPr/>
          </a:p>
          <a:p>
            <a:pPr algn="ctr">
              <a:defRPr/>
            </a:pPr>
            <a:r>
              <a:rPr/>
              <a:t>3</a:t>
            </a:r>
            <a:endParaRPr/>
          </a:p>
        </p:txBody>
      </p:sp>
      <p:sp>
        <p:nvSpPr>
          <p:cNvPr id="782316182" name=""/>
          <p:cNvSpPr txBox="1"/>
          <p:nvPr/>
        </p:nvSpPr>
        <p:spPr bwMode="auto">
          <a:xfrm rot="0" flipH="0" flipV="0">
            <a:off x="524298" y="4007984"/>
            <a:ext cx="1649253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Gluten-Free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1384571446" name=""/>
          <p:cNvSpPr txBox="1"/>
          <p:nvPr/>
        </p:nvSpPr>
        <p:spPr bwMode="auto">
          <a:xfrm rot="0" flipH="0" flipV="0">
            <a:off x="4208274" y="2354736"/>
            <a:ext cx="1672292" cy="1189079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Weighted Sum</a:t>
            </a:r>
            <a:endParaRPr/>
          </a:p>
          <a:p>
            <a:pPr algn="ctr">
              <a:defRPr/>
            </a:pPr>
            <a:r>
              <a:rPr/>
              <a:t>1.9</a:t>
            </a:r>
            <a:endParaRPr/>
          </a:p>
          <a:p>
            <a:pPr algn="ctr">
              <a:defRPr/>
            </a:pPr>
            <a:r>
              <a:rPr/>
              <a:t>Threshold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2030874249" name=""/>
          <p:cNvSpPr txBox="1"/>
          <p:nvPr/>
        </p:nvSpPr>
        <p:spPr bwMode="auto">
          <a:xfrm rot="0" flipH="0" flipV="0">
            <a:off x="7014147" y="2657170"/>
            <a:ext cx="1673370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Output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cxnSp>
        <p:nvCxnSpPr>
          <p:cNvPr id="1550482695" name=""/>
          <p:cNvCxnSpPr>
            <a:stCxn id="1922987628" idx="3"/>
            <a:endCxn id="1384571446" idx="1"/>
          </p:cNvCxnSpPr>
          <p:nvPr/>
        </p:nvCxnSpPr>
        <p:spPr bwMode="auto">
          <a:xfrm rot="0" flipH="0" flipV="0">
            <a:off x="2154115" y="1578709"/>
            <a:ext cx="2054159" cy="137056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373909685" name=""/>
          <p:cNvCxnSpPr>
            <a:endCxn id="1384571446" idx="1"/>
          </p:cNvCxnSpPr>
          <p:nvPr/>
        </p:nvCxnSpPr>
        <p:spPr bwMode="auto">
          <a:xfrm rot="0" flipH="0" flipV="0">
            <a:off x="2173552" y="2463604"/>
            <a:ext cx="2034722" cy="48567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2055978" name=""/>
          <p:cNvCxnSpPr>
            <a:endCxn id="1384571446" idx="1"/>
          </p:cNvCxnSpPr>
          <p:nvPr/>
        </p:nvCxnSpPr>
        <p:spPr bwMode="auto">
          <a:xfrm rot="0" flipH="0" flipV="1">
            <a:off x="2154115" y="2949276"/>
            <a:ext cx="2054159" cy="51378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808000792" name=""/>
          <p:cNvCxnSpPr>
            <a:stCxn id="782316182" idx="3"/>
            <a:endCxn id="1384571446" idx="1"/>
          </p:cNvCxnSpPr>
          <p:nvPr/>
        </p:nvCxnSpPr>
        <p:spPr bwMode="auto">
          <a:xfrm rot="0" flipH="0" flipV="1">
            <a:off x="2173552" y="2949276"/>
            <a:ext cx="2034722" cy="137892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2049149279" name=""/>
          <p:cNvSpPr txBox="1"/>
          <p:nvPr/>
        </p:nvSpPr>
        <p:spPr bwMode="auto">
          <a:xfrm rot="0" flipH="0" flipV="0">
            <a:off x="2924192" y="1670538"/>
            <a:ext cx="5439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0.2</a:t>
            </a:r>
            <a:endParaRPr/>
          </a:p>
        </p:txBody>
      </p:sp>
      <p:sp>
        <p:nvSpPr>
          <p:cNvPr id="1348395928" name=""/>
          <p:cNvSpPr txBox="1"/>
          <p:nvPr/>
        </p:nvSpPr>
        <p:spPr bwMode="auto">
          <a:xfrm rot="0" flipH="0" flipV="0">
            <a:off x="2533680" y="2205630"/>
            <a:ext cx="5443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0.1</a:t>
            </a:r>
            <a:endParaRPr/>
          </a:p>
        </p:txBody>
      </p:sp>
      <p:sp>
        <p:nvSpPr>
          <p:cNvPr id="1784461571" name=""/>
          <p:cNvSpPr txBox="1"/>
          <p:nvPr/>
        </p:nvSpPr>
        <p:spPr bwMode="auto">
          <a:xfrm rot="0" flipH="0" flipV="0">
            <a:off x="2652556" y="3896457"/>
            <a:ext cx="5432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-1</a:t>
            </a:r>
            <a:endParaRPr/>
          </a:p>
        </p:txBody>
      </p:sp>
      <p:sp>
        <p:nvSpPr>
          <p:cNvPr id="1793420079" name=""/>
          <p:cNvSpPr txBox="1"/>
          <p:nvPr/>
        </p:nvSpPr>
        <p:spPr bwMode="auto">
          <a:xfrm rot="0" flipH="0" flipV="0">
            <a:off x="2380380" y="2949276"/>
            <a:ext cx="5447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-0.2</a:t>
            </a:r>
            <a:endParaRPr/>
          </a:p>
        </p:txBody>
      </p:sp>
      <p:cxnSp>
        <p:nvCxnSpPr>
          <p:cNvPr id="1800255996" name=""/>
          <p:cNvCxnSpPr>
            <a:endCxn id="2030874249" idx="1"/>
          </p:cNvCxnSpPr>
          <p:nvPr/>
        </p:nvCxnSpPr>
        <p:spPr bwMode="auto">
          <a:xfrm rot="0" flipH="0" flipV="0">
            <a:off x="5880567" y="2977390"/>
            <a:ext cx="1133579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6807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Example</a:t>
            </a:r>
            <a:r>
              <a:rPr/>
              <a:t> – Bad Pizza</a:t>
            </a:r>
            <a:endParaRPr/>
          </a:p>
        </p:txBody>
      </p:sp>
      <p:sp>
        <p:nvSpPr>
          <p:cNvPr id="2090391621" name=""/>
          <p:cNvSpPr txBox="1"/>
          <p:nvPr/>
        </p:nvSpPr>
        <p:spPr bwMode="auto">
          <a:xfrm rot="0" flipH="0" flipV="0">
            <a:off x="524298" y="1258489"/>
            <a:ext cx="1630896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Pepperoni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sp>
        <p:nvSpPr>
          <p:cNvPr id="234503187" name=""/>
          <p:cNvSpPr txBox="1"/>
          <p:nvPr/>
        </p:nvSpPr>
        <p:spPr bwMode="auto">
          <a:xfrm rot="0" flipH="0" flipV="0">
            <a:off x="537616" y="2143384"/>
            <a:ext cx="1637375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Cheese</a:t>
            </a:r>
            <a:endParaRPr/>
          </a:p>
          <a:p>
            <a:pPr algn="ctr">
              <a:defRPr/>
            </a:pPr>
            <a:r>
              <a:rPr/>
              <a:t>3</a:t>
            </a:r>
            <a:endParaRPr/>
          </a:p>
        </p:txBody>
      </p:sp>
      <p:sp>
        <p:nvSpPr>
          <p:cNvPr id="1968048656" name=""/>
          <p:cNvSpPr txBox="1"/>
          <p:nvPr/>
        </p:nvSpPr>
        <p:spPr bwMode="auto">
          <a:xfrm rot="0" flipH="0" flipV="0">
            <a:off x="512420" y="3142843"/>
            <a:ext cx="1642414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Veggies</a:t>
            </a:r>
            <a:endParaRPr/>
          </a:p>
          <a:p>
            <a:pPr algn="ctr">
              <a:defRPr/>
            </a:pPr>
            <a:r>
              <a:rPr/>
              <a:t>9</a:t>
            </a:r>
            <a:endParaRPr/>
          </a:p>
        </p:txBody>
      </p:sp>
      <p:sp>
        <p:nvSpPr>
          <p:cNvPr id="626546976" name=""/>
          <p:cNvSpPr txBox="1"/>
          <p:nvPr/>
        </p:nvSpPr>
        <p:spPr bwMode="auto">
          <a:xfrm rot="0" flipH="0" flipV="0">
            <a:off x="524298" y="4007984"/>
            <a:ext cx="1649973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Gluten-Free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sp>
        <p:nvSpPr>
          <p:cNvPr id="1708468081" name=""/>
          <p:cNvSpPr txBox="1"/>
          <p:nvPr/>
        </p:nvSpPr>
        <p:spPr bwMode="auto">
          <a:xfrm rot="0" flipH="0" flipV="0">
            <a:off x="4208274" y="2354736"/>
            <a:ext cx="1684172" cy="1189079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Weighted Sum</a:t>
            </a:r>
            <a:endParaRPr/>
          </a:p>
          <a:p>
            <a:pPr algn="ctr">
              <a:defRPr/>
            </a:pPr>
            <a:r>
              <a:rPr/>
              <a:t>-2.3</a:t>
            </a:r>
            <a:endParaRPr/>
          </a:p>
          <a:p>
            <a:pPr algn="ctr">
              <a:defRPr/>
            </a:pPr>
            <a:r>
              <a:rPr/>
              <a:t>Threshold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1908690459" name=""/>
          <p:cNvSpPr txBox="1"/>
          <p:nvPr/>
        </p:nvSpPr>
        <p:spPr bwMode="auto">
          <a:xfrm rot="0" flipH="0" flipV="0">
            <a:off x="7014147" y="2657170"/>
            <a:ext cx="1674090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Output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cxnSp>
        <p:nvCxnSpPr>
          <p:cNvPr id="2146203505" name=""/>
          <p:cNvCxnSpPr>
            <a:stCxn id="2090391621" idx="3"/>
            <a:endCxn id="1708468081" idx="1"/>
          </p:cNvCxnSpPr>
          <p:nvPr/>
        </p:nvCxnSpPr>
        <p:spPr bwMode="auto">
          <a:xfrm rot="0" flipH="0" flipV="0">
            <a:off x="2154115" y="1578709"/>
            <a:ext cx="2054159" cy="137056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702089551" name=""/>
          <p:cNvCxnSpPr>
            <a:endCxn id="1708468081" idx="1"/>
          </p:cNvCxnSpPr>
          <p:nvPr/>
        </p:nvCxnSpPr>
        <p:spPr bwMode="auto">
          <a:xfrm rot="0" flipH="0" flipV="0">
            <a:off x="2173552" y="2463604"/>
            <a:ext cx="2034722" cy="48567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77400289" name=""/>
          <p:cNvCxnSpPr>
            <a:endCxn id="1708468081" idx="1"/>
          </p:cNvCxnSpPr>
          <p:nvPr/>
        </p:nvCxnSpPr>
        <p:spPr bwMode="auto">
          <a:xfrm rot="0" flipH="0" flipV="1">
            <a:off x="2154115" y="2949276"/>
            <a:ext cx="2054159" cy="51378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728300462" name=""/>
          <p:cNvCxnSpPr>
            <a:stCxn id="626546976" idx="3"/>
            <a:endCxn id="1708468081" idx="1"/>
          </p:cNvCxnSpPr>
          <p:nvPr/>
        </p:nvCxnSpPr>
        <p:spPr bwMode="auto">
          <a:xfrm rot="0" flipH="0" flipV="1">
            <a:off x="2173552" y="2949276"/>
            <a:ext cx="2034722" cy="137892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778665479" name=""/>
          <p:cNvSpPr txBox="1"/>
          <p:nvPr/>
        </p:nvSpPr>
        <p:spPr bwMode="auto">
          <a:xfrm rot="0" flipH="0" flipV="0">
            <a:off x="2924192" y="1670538"/>
            <a:ext cx="5439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0.2</a:t>
            </a:r>
            <a:endParaRPr/>
          </a:p>
        </p:txBody>
      </p:sp>
      <p:sp>
        <p:nvSpPr>
          <p:cNvPr id="1997922793" name=""/>
          <p:cNvSpPr txBox="1"/>
          <p:nvPr/>
        </p:nvSpPr>
        <p:spPr bwMode="auto">
          <a:xfrm rot="0" flipH="0" flipV="0">
            <a:off x="2533680" y="2205630"/>
            <a:ext cx="5443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0.1</a:t>
            </a:r>
            <a:endParaRPr/>
          </a:p>
        </p:txBody>
      </p:sp>
      <p:sp>
        <p:nvSpPr>
          <p:cNvPr id="2140186706" name=""/>
          <p:cNvSpPr txBox="1"/>
          <p:nvPr/>
        </p:nvSpPr>
        <p:spPr bwMode="auto">
          <a:xfrm rot="0" flipH="0" flipV="0">
            <a:off x="2652556" y="3896457"/>
            <a:ext cx="5432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-1</a:t>
            </a:r>
            <a:endParaRPr/>
          </a:p>
        </p:txBody>
      </p:sp>
      <p:sp>
        <p:nvSpPr>
          <p:cNvPr id="938631351" name=""/>
          <p:cNvSpPr txBox="1"/>
          <p:nvPr/>
        </p:nvSpPr>
        <p:spPr bwMode="auto">
          <a:xfrm rot="0" flipH="0" flipV="0">
            <a:off x="2380380" y="2949276"/>
            <a:ext cx="5447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-0.2</a:t>
            </a:r>
            <a:endParaRPr/>
          </a:p>
        </p:txBody>
      </p:sp>
      <p:cxnSp>
        <p:nvCxnSpPr>
          <p:cNvPr id="1550774688" name=""/>
          <p:cNvCxnSpPr>
            <a:endCxn id="1908690459" idx="1"/>
          </p:cNvCxnSpPr>
          <p:nvPr/>
        </p:nvCxnSpPr>
        <p:spPr bwMode="auto">
          <a:xfrm rot="0" flipH="0" flipV="0">
            <a:off x="5880567" y="2977390"/>
            <a:ext cx="1133579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046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Threshold as a Learned Weight</a:t>
            </a:r>
            <a:endParaRPr/>
          </a:p>
        </p:txBody>
      </p:sp>
      <p:pic>
        <p:nvPicPr>
          <p:cNvPr id="1795233604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416199" y="1258488"/>
            <a:ext cx="6311598" cy="3336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290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  <p:sp>
        <p:nvSpPr>
          <p:cNvPr id="1101305119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Weights are learned as perceptron sees data</a:t>
            </a:r>
            <a:endParaRPr/>
          </a:p>
          <a:p>
            <a:pPr>
              <a:defRPr/>
            </a:pPr>
            <a:r>
              <a:rPr/>
              <a:t>Weights change if perceptron is wrong, no change if right</a:t>
            </a:r>
            <a:endParaRPr/>
          </a:p>
          <a:p>
            <a:pPr>
              <a:defRPr/>
            </a:pPr>
            <a:r>
              <a:rPr/>
              <a:t>Dataset is repeated until perceptron has learned</a:t>
            </a:r>
            <a:endParaRPr/>
          </a:p>
          <a:p>
            <a:pPr>
              <a:defRPr/>
            </a:pPr>
            <a:r>
              <a:rPr/>
              <a:t>Each time through dataset called an “epoch”</a:t>
            </a:r>
            <a:endParaRPr/>
          </a:p>
        </p:txBody>
      </p:sp>
      <p:sp>
        <p:nvSpPr>
          <p:cNvPr id="75564155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data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 algn="l">
              <a:buFont typeface="Arial"/>
              <a:buNone/>
              <a:defRPr/>
            </a:pP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weight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learning rate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target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pred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predicted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input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788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  <p:graphicFrame>
        <p:nvGraphicFramePr>
          <p:cNvPr id="1538327789" name=""/>
          <p:cNvGraphicFramePr>
            <a:graphicFrameLocks xmlns:a="http://schemas.openxmlformats.org/drawingml/2006/main"/>
          </p:cNvGraphicFramePr>
          <p:nvPr>
            <p:ph sz="half" idx="1"/>
          </p:nvPr>
        </p:nvGraphicFramePr>
        <p:xfrm rot="0">
          <a:off x="457200" y="1258488"/>
          <a:ext cx="4038597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009649"/>
                <a:gridCol w="1009649"/>
                <a:gridCol w="1009649"/>
                <a:gridCol w="1009649"/>
              </a:tblGrid>
              <a:tr h="365760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0287473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7" cy="33361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data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 algn="l">
              <a:buFont typeface="Arial"/>
              <a:buNone/>
              <a:defRPr/>
            </a:pP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weight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learning rate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target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pred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predicted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input</a:t>
            </a:r>
            <a:endParaRPr/>
          </a:p>
        </p:txBody>
      </p:sp>
      <p:sp>
        <p:nvSpPr>
          <p:cNvPr id="249322647" name=""/>
          <p:cNvSpPr txBox="1"/>
          <p:nvPr/>
        </p:nvSpPr>
        <p:spPr bwMode="auto">
          <a:xfrm rot="0" flipH="0" flipV="0">
            <a:off x="457199" y="3711839"/>
            <a:ext cx="40720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Learning Rate =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13812167" name=""/>
          <p:cNvGraphicFramePr>
            <a:graphicFrameLocks xmlns:a="http://schemas.openxmlformats.org/drawingml/2006/main"/>
          </p:cNvGraphicFramePr>
          <p:nvPr>
            <p:ph sz="half" idx="2"/>
          </p:nvPr>
        </p:nvGraphicFramePr>
        <p:xfrm rot="0">
          <a:off x="186069" y="1324942"/>
          <a:ext cx="8771860" cy="3578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684503"/>
                <a:gridCol w="630000"/>
                <a:gridCol w="547290"/>
                <a:gridCol w="547290"/>
                <a:gridCol w="547290"/>
                <a:gridCol w="547290"/>
              </a:tblGrid>
              <a:tr h="365760"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Weights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Net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Output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>
                                <m:jc m:val="center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Δw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0.6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-1.95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-2.04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458918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89612523" name=""/>
          <p:cNvGraphicFramePr>
            <a:graphicFrameLocks xmlns:a="http://schemas.openxmlformats.org/drawingml/2006/main"/>
          </p:cNvGraphicFramePr>
          <p:nvPr>
            <p:ph sz="half" idx="2"/>
          </p:nvPr>
        </p:nvGraphicFramePr>
        <p:xfrm rot="0">
          <a:off x="186069" y="1324942"/>
          <a:ext cx="8771860" cy="3578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684503"/>
                <a:gridCol w="630000"/>
                <a:gridCol w="547290"/>
                <a:gridCol w="547290"/>
                <a:gridCol w="547290"/>
                <a:gridCol w="547290"/>
              </a:tblGrid>
              <a:tr h="365760"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Weights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Net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Output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Δw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-2.2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0.6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-1.95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-2.04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-0.3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0.2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51430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0086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Predictions</a:t>
            </a:r>
            <a:endParaRPr/>
          </a:p>
        </p:txBody>
      </p:sp>
      <p:sp>
        <p:nvSpPr>
          <p:cNvPr id="2053749567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2910532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Simple model to understand and train</a:t>
            </a:r>
            <a:endParaRPr/>
          </a:p>
          <a:p>
            <a:pPr>
              <a:defRPr/>
            </a:pPr>
            <a:r>
              <a:rPr/>
              <a:t>Has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interpretable</a:t>
            </a:r>
            <a:r>
              <a:rPr/>
              <a:t> results (larger weight, more important factor)</a:t>
            </a:r>
            <a:endParaRPr/>
          </a:p>
          <a:p>
            <a:pPr>
              <a:defRPr/>
            </a:pPr>
            <a:r>
              <a:rPr/>
              <a:t>Can only classify hyperplanes</a:t>
            </a:r>
            <a:endParaRPr/>
          </a:p>
        </p:txBody>
      </p:sp>
      <p:pic>
        <p:nvPicPr>
          <p:cNvPr id="762159564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3472839" y="1697830"/>
            <a:ext cx="2447924" cy="2457450"/>
          </a:xfrm>
          <a:prstGeom prst="rect">
            <a:avLst/>
          </a:prstGeom>
        </p:spPr>
      </p:pic>
      <p:pic>
        <p:nvPicPr>
          <p:cNvPr id="147106653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8873" y="1697830"/>
            <a:ext cx="2447924" cy="2457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1186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56631" y="0"/>
            <a:ext cx="5230737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2850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Can perceptron do regression?</a:t>
            </a:r>
            <a:endParaRPr/>
          </a:p>
        </p:txBody>
      </p:sp>
      <p:sp>
        <p:nvSpPr>
          <p:cNvPr id="1366939993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Yes!</a:t>
            </a:r>
            <a:endParaRPr/>
          </a:p>
          <a:p>
            <a:pPr>
              <a:defRPr/>
            </a:pPr>
            <a:r>
              <a:rPr/>
              <a:t>Use activation function</a:t>
            </a:r>
            <a:endParaRPr/>
          </a:p>
          <a:p>
            <a:pPr>
              <a:defRPr/>
            </a:pPr>
            <a:r>
              <a:rPr/>
              <a:t>Scale inputs before putting in perceptron</a:t>
            </a:r>
            <a:endParaRPr/>
          </a:p>
          <a:p>
            <a:pPr>
              <a:defRPr/>
            </a:pPr>
            <a:r>
              <a:rPr/>
              <a:t>Use same scaling to output regression value</a:t>
            </a:r>
            <a:endParaRPr/>
          </a:p>
          <a:p>
            <a:pPr>
              <a:defRPr/>
            </a:pPr>
            <a:r>
              <a:rPr/>
              <a:t>Use MSE or other regression loss function</a:t>
            </a:r>
            <a:endParaRPr/>
          </a:p>
        </p:txBody>
      </p:sp>
      <p:pic>
        <p:nvPicPr>
          <p:cNvPr id="504485305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 flipH="0" flipV="0">
            <a:off x="5015943" y="1258489"/>
            <a:ext cx="3306979" cy="3696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045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Multi-Layer Perceptron (MLP)</a:t>
            </a:r>
            <a:endParaRPr/>
          </a:p>
        </p:txBody>
      </p:sp>
      <p:sp>
        <p:nvSpPr>
          <p:cNvPr id="1106800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895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Multi-Layer Perceptron</a:t>
            </a:r>
            <a:endParaRPr/>
          </a:p>
        </p:txBody>
      </p:sp>
      <p:sp>
        <p:nvSpPr>
          <p:cNvPr id="682707051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Rather than 1 layer of nodes, let’s have multiple layers of nodes</a:t>
            </a:r>
            <a:endParaRPr/>
          </a:p>
          <a:p>
            <a:pPr>
              <a:defRPr/>
            </a:pPr>
            <a:r>
              <a:rPr/>
              <a:t>Output from one node becomes the input to the next node</a:t>
            </a:r>
            <a:endParaRPr/>
          </a:p>
          <a:p>
            <a:pPr>
              <a:defRPr/>
            </a:pPr>
            <a:r>
              <a:rPr/>
              <a:t>“Hidden layers” are layers inside network</a:t>
            </a:r>
            <a:endParaRPr/>
          </a:p>
        </p:txBody>
      </p:sp>
      <p:pic>
        <p:nvPicPr>
          <p:cNvPr id="511351961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4648197" y="1654396"/>
            <a:ext cx="4038597" cy="254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10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Steps</a:t>
            </a:r>
            <a:endParaRPr/>
          </a:p>
        </p:txBody>
      </p:sp>
      <p:sp>
        <p:nvSpPr>
          <p:cNvPr id="9939236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Forward Propagation</a:t>
            </a:r>
            <a:endParaRPr/>
          </a:p>
          <a:p>
            <a:pPr>
              <a:defRPr/>
            </a:pPr>
            <a:r>
              <a:rPr/>
              <a:t>Back propagation</a:t>
            </a:r>
            <a:endParaRPr/>
          </a:p>
          <a:p>
            <a:pPr>
              <a:defRPr/>
            </a:pPr>
            <a:r>
              <a:rPr/>
              <a:t>Update weights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4985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Backpropagation</a:t>
            </a:r>
            <a:endParaRPr/>
          </a:p>
        </p:txBody>
      </p:sp>
      <p:sp>
        <p:nvSpPr>
          <p:cNvPr id="89731208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Needs a differentiable activation function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569757066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net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=Z=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-net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45196" name="Title 1"/>
          <p:cNvSpPr>
            <a:spLocks noGrp="1"/>
          </p:cNvSpPr>
          <p:nvPr>
            <p:ph type="title"/>
          </p:nvPr>
        </p:nvSpPr>
        <p:spPr bwMode="auto">
          <a:xfrm>
            <a:off x="722313" y="1035561"/>
            <a:ext cx="7772400" cy="1021555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Gathering data</a:t>
            </a:r>
            <a:endParaRPr/>
          </a:p>
        </p:txBody>
      </p:sp>
      <p:sp>
        <p:nvSpPr>
          <p:cNvPr id="5776753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4550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Determining Variables</a:t>
            </a:r>
            <a:endParaRPr/>
          </a:p>
        </p:txBody>
      </p:sp>
      <p:sp>
        <p:nvSpPr>
          <p:cNvPr id="13183926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input_history.txt</a:t>
            </a:r>
            <a:endParaRPr/>
          </a:p>
          <a:p>
            <a:pPr lvl="1">
              <a:defRPr/>
            </a:pPr>
            <a:r>
              <a:rPr/>
              <a:t>time (hr)</a:t>
            </a:r>
            <a:endParaRPr/>
          </a:p>
          <a:p>
            <a:pPr lvl="1">
              <a:defRPr/>
            </a:pPr>
            <a:r>
              <a:rPr/>
              <a:t>Temperature (K)</a:t>
            </a:r>
            <a:endParaRPr/>
          </a:p>
          <a:p>
            <a:pPr lvl="1">
              <a:defRPr/>
            </a:pPr>
            <a:r>
              <a:rPr/>
              <a:t>Fission Rate (fissions/m^3*s)</a:t>
            </a:r>
            <a:endParaRPr/>
          </a:p>
          <a:p>
            <a:pPr lvl="1">
              <a:defRPr/>
            </a:pPr>
            <a:r>
              <a:rPr/>
              <a:t>Hydrostatic Stress (MPa)</a:t>
            </a:r>
            <a:endParaRPr/>
          </a:p>
          <a:p>
            <a:pPr lvl="0">
              <a:defRPr/>
            </a:pPr>
            <a:r>
              <a:rPr/>
              <a:t>Code linearly interpolates between entries</a:t>
            </a:r>
            <a:endParaRPr/>
          </a:p>
        </p:txBody>
      </p:sp>
      <p:pic>
        <p:nvPicPr>
          <p:cNvPr id="795115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58167" y="3757782"/>
            <a:ext cx="3028950" cy="71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1891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Time</a:t>
            </a:r>
            <a:endParaRPr/>
          </a:p>
        </p:txBody>
      </p:sp>
      <p:sp>
        <p:nvSpPr>
          <p:cNvPr id="1897155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PWRs refuel every 18 months</a:t>
            </a:r>
            <a:endParaRPr/>
          </a:p>
          <a:p>
            <a:pPr>
              <a:defRPr/>
            </a:pPr>
            <a:r>
              <a:rPr/>
              <a:t>BWRs refuel every 24 months</a:t>
            </a:r>
            <a:endParaRPr/>
          </a:p>
          <a:p>
            <a:pPr>
              <a:defRPr/>
            </a:pPr>
            <a:r>
              <a:rPr/>
              <a:t>One-third of the fuel is shuffled every fuel cycle</a:t>
            </a:r>
            <a:endParaRPr/>
          </a:p>
          <a:p>
            <a:pPr>
              <a:defRPr/>
            </a:pPr>
            <a:r>
              <a:rPr/>
              <a:t>Average capacity factor is 92.7%</a:t>
            </a:r>
            <a:r>
              <a:rPr baseline="30000"/>
              <a:t>1</a:t>
            </a:r>
            <a:endParaRPr/>
          </a:p>
        </p:txBody>
      </p:sp>
      <p:sp>
        <p:nvSpPr>
          <p:cNvPr id="88140507" name=""/>
          <p:cNvSpPr txBox="1"/>
          <p:nvPr/>
        </p:nvSpPr>
        <p:spPr bwMode="auto">
          <a:xfrm rot="0" flipH="0" flipV="0">
            <a:off x="457199" y="4594621"/>
            <a:ext cx="82303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900" u="none">
                <a:solidFill>
                  <a:schemeClr val="tx1"/>
                </a:solidFill>
              </a:rPr>
              <a:t>Source: </a:t>
            </a: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https://www.nei.org/resources/statistics/us-nuclear-operating-plant-basic-information</a:t>
            </a:r>
            <a:r>
              <a:rPr sz="1000" u="none">
                <a:solidFill>
                  <a:schemeClr val="tx1"/>
                </a:solidFill>
              </a:rPr>
              <a:t> </a:t>
            </a:r>
            <a:r>
              <a:rPr sz="900" u="none">
                <a:solidFill>
                  <a:schemeClr val="tx1"/>
                </a:solidFill>
              </a:rPr>
              <a:t>Received data from U.S. Energy Information Administration, updated July 2023</a:t>
            </a:r>
            <a:endParaRPr sz="900" u="none">
              <a:solidFill>
                <a:schemeClr val="tx1"/>
              </a:solidFill>
            </a:endParaRPr>
          </a:p>
        </p:txBody>
      </p:sp>
      <p:sp>
        <p:nvSpPr>
          <p:cNvPr id="23124859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9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Operating Hours=3 cycles⋅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 months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cycle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30 days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month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 hours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day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⋅92.7% capacity factor=48,056 hours≈50,000 hours</m:t>
                      </m:r>
                    </m:oMath>
                  </m:oMathPara>
                </a14:m>
              </mc:Choice>
              <mc:Fallback/>
            </mc:AlternateContent>
            <a:endParaRPr lang="en-US" sz="24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690858765" name=""/>
          <p:cNvSpPr/>
          <p:nvPr/>
        </p:nvSpPr>
        <p:spPr bwMode="auto">
          <a:xfrm>
            <a:off x="4480362" y="238869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ONLYOFFICE/9.2.0.100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NC State University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B Dearmon</dc:creator>
  <cp:lastModifiedBy/>
  <cp:revision>8</cp:revision>
  <dcterms:created xsi:type="dcterms:W3CDTF">2014-04-10T19:16:28Z</dcterms:created>
  <dcterms:modified xsi:type="dcterms:W3CDTF">2026-02-25T17:30:36Z</dcterms:modified>
</cp:coreProperties>
</file>