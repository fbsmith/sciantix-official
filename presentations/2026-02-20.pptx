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template.main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9144000" cy="5143500" type="screen16x9"/>
  <p:notesSz cx="6858000" cy="9144000"/>
  <p:defaultTextStyle>
    <a:defPPr>
      <a:defRPr lang="en-US"/>
    </a:defPPr>
    <a:lvl1pPr algn="l" defTabSz="457200" rtl="0">
      <a:spcBef>
        <a:spcPts val="0"/>
      </a:spcBef>
      <a:spcAft>
        <a:spcPts val="0"/>
      </a:spcAft>
      <a:defRPr>
        <a:solidFill>
          <a:schemeClr val="tx1"/>
        </a:solidFill>
        <a:latin typeface="Calibri"/>
        <a:ea typeface="ＭＳ Ｐゴシック"/>
        <a:cs typeface="ＭＳ Ｐゴシック"/>
      </a:defRPr>
    </a:lvl1pPr>
    <a:lvl2pPr marL="457200" algn="l" defTabSz="457200" rtl="0">
      <a:spcBef>
        <a:spcPts val="0"/>
      </a:spcBef>
      <a:spcAft>
        <a:spcPts val="0"/>
      </a:spcAft>
      <a:defRPr>
        <a:solidFill>
          <a:schemeClr val="tx1"/>
        </a:solidFill>
        <a:latin typeface="Calibri"/>
        <a:ea typeface="ＭＳ Ｐゴシック"/>
        <a:cs typeface="ＭＳ Ｐゴシック"/>
      </a:defRPr>
    </a:lvl2pPr>
    <a:lvl3pPr marL="914400" algn="l" defTabSz="457200" rtl="0">
      <a:spcBef>
        <a:spcPts val="0"/>
      </a:spcBef>
      <a:spcAft>
        <a:spcPts val="0"/>
      </a:spcAft>
      <a:defRPr>
        <a:solidFill>
          <a:schemeClr val="tx1"/>
        </a:solidFill>
        <a:latin typeface="Calibri"/>
        <a:ea typeface="ＭＳ Ｐゴシック"/>
        <a:cs typeface="ＭＳ Ｐゴシック"/>
      </a:defRPr>
    </a:lvl3pPr>
    <a:lvl4pPr marL="1371600" algn="l" defTabSz="457200" rtl="0">
      <a:spcBef>
        <a:spcPts val="0"/>
      </a:spcBef>
      <a:spcAft>
        <a:spcPts val="0"/>
      </a:spcAft>
      <a:defRPr>
        <a:solidFill>
          <a:schemeClr val="tx1"/>
        </a:solidFill>
        <a:latin typeface="Calibri"/>
        <a:ea typeface="ＭＳ Ｐゴシック"/>
        <a:cs typeface="ＭＳ Ｐゴシック"/>
      </a:defRPr>
    </a:lvl4pPr>
    <a:lvl5pPr marL="1828800" algn="l" defTabSz="457200" rtl="0">
      <a:spcBef>
        <a:spcPts val="0"/>
      </a:spcBef>
      <a:spcAft>
        <a:spcPts val="0"/>
      </a:spcAft>
      <a:defRPr>
        <a:solidFill>
          <a:schemeClr val="tx1"/>
        </a:solidFill>
        <a:latin typeface="Calibri"/>
        <a:ea typeface="ＭＳ Ｐゴシック"/>
        <a:cs typeface="ＭＳ Ｐゴシック"/>
      </a:defRPr>
    </a:lvl5pPr>
    <a:lvl6pPr marL="2286000" algn="l" defTabSz="457200" rtl="0">
      <a:defRPr>
        <a:solidFill>
          <a:schemeClr val="tx1"/>
        </a:solidFill>
        <a:latin typeface="Calibri"/>
        <a:ea typeface="ＭＳ Ｐゴシック"/>
        <a:cs typeface="ＭＳ Ｐゴシック"/>
      </a:defRPr>
    </a:lvl6pPr>
    <a:lvl7pPr marL="2743200" algn="l" defTabSz="457200" rtl="0">
      <a:defRPr>
        <a:solidFill>
          <a:schemeClr val="tx1"/>
        </a:solidFill>
        <a:latin typeface="Calibri"/>
        <a:ea typeface="ＭＳ Ｐゴシック"/>
        <a:cs typeface="ＭＳ Ｐゴシック"/>
      </a:defRPr>
    </a:lvl7pPr>
    <a:lvl8pPr marL="3200400" algn="l" defTabSz="457200" rtl="0">
      <a:defRPr>
        <a:solidFill>
          <a:schemeClr val="tx1"/>
        </a:solidFill>
        <a:latin typeface="Calibri"/>
        <a:ea typeface="ＭＳ Ｐゴシック"/>
        <a:cs typeface="ＭＳ Ｐゴシック"/>
      </a:defRPr>
    </a:lvl8pPr>
    <a:lvl9pPr marL="3657600" algn="l" defTabSz="457200" rtl="0">
      <a:defRPr>
        <a:solidFill>
          <a:schemeClr val="tx1"/>
        </a:solidFill>
        <a:latin typeface="Calibri"/>
        <a:ea typeface="ＭＳ Ｐゴシック"/>
        <a:cs typeface="ＭＳ Ｐゴシック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No Style, Table Grid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 w="12700">
              <a:solidFill>
                <a:schemeClr val="dk1"/>
              </a:solidFill>
            </a:ln>
          </a:insideH>
          <a:insideV>
            <a:ln w="12700">
              <a:solidFill>
                <a:schemeClr val="dk1"/>
              </a:solidFill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lt1"/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lastCol>
    <a:fir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12700">
              <a:solidFill>
                <a:schemeClr val="lt1"/>
              </a:solidFill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l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55" d="100"/>
          <a:sy n="155" d="100"/>
        </p:scale>
        <p:origin x="-2040" y="-2000"/>
      </p:cViewPr>
      <p:guideLst>
        <p:guide pos="162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 /><Relationship Id="rId27" Type="http://schemas.openxmlformats.org/officeDocument/2006/relationships/tableStyles" Target="tableStyles.xml" /><Relationship Id="rId2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5426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2610478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606069587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716787660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79256848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02346024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66390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67041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16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98C8C3-A912-5BAF-C510-1350369CE6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1817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25814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6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F64C6F-5FAD-78C8-673E-CE2C47F3748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830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18677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53766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CD4A44-994F-A930-3C3B-CF389B6C2C7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12543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00869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095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4C1EB2-D51B-5C9A-EBEC-03CD70BC05A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53348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249976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453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4C4ADC-7E84-BC30-AC57-74D9A62D86A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56785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5594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4535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70C77A-2499-3C36-AEE8-C99B5A13C58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82042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03638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8070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CA4E17-9930-C42F-CD46-C438382D3F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30383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43581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0602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CAA776-547A-C487-DCB1-5DC13FCB480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43182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1068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0723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48E965D-D029-9720-457F-3B28EDFCA75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6126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417791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55883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46A3B9-AED9-31EF-23BA-087E5ED1915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56005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76076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4021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E78E46-55EB-BDFF-65AA-F223B45C198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E2E4A4-6EE3-EDC4-697C-409B364D4C5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077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6442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983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DC9244-9F0E-DF3A-734E-5FA8A792ED5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8768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75545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4183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866B3F-AB0F-B48A-D110-B64DBB974A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1752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65711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168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C7E35-A03A-8B2E-A9BB-E70D8B958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C3723D-1BE3-26CD-799B-A4B604D7ECF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F13005-4EBF-EBCC-59F0-698E62E32F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86225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707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61032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83DAB9-263E-99C2-3148-D85E9764752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87328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85675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422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0BC1F9-FEF1-FA24-DFEC-C66E3F61FA2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07405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530896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8428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68C8CC-28AA-B9D6-78BE-E7EA431A471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6718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76014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3248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73619F-E72A-BF2D-3C49-70FCC9A7ECB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16338" name="Title 1"/>
          <p:cNvSpPr>
            <a:spLocks noGrp="1"/>
          </p:cNvSpPr>
          <p:nvPr>
            <p:ph type="ctrTitle"/>
          </p:nvPr>
        </p:nvSpPr>
        <p:spPr bwMode="auto">
          <a:xfrm>
            <a:off x="685800" y="1597820"/>
            <a:ext cx="7772400" cy="1102519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6429412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37072082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D480A359-2FB3-4847-9D97-3491754AA7F9}" type="datetimeFigureOut">
              <a:rPr lang="en-US"/>
              <a:t>4/9/15</a:t>
            </a:fld>
            <a:endParaRPr lang="en-US"/>
          </a:p>
        </p:txBody>
      </p:sp>
      <p:sp>
        <p:nvSpPr>
          <p:cNvPr id="6361086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6399291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1215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5476877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9660605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D128603A-2399-D64A-8203-C8F297F981E8}" type="datetimeFigureOut">
              <a:rPr lang="en-US"/>
              <a:t>4/9/15</a:t>
            </a:fld>
            <a:endParaRPr lang="en-US"/>
          </a:p>
        </p:txBody>
      </p:sp>
      <p:sp>
        <p:nvSpPr>
          <p:cNvPr id="159828115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770657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6671848" name="Title 1"/>
          <p:cNvSpPr>
            <a:spLocks noGrp="1"/>
          </p:cNvSpPr>
          <p:nvPr>
            <p:ph type="title"/>
          </p:nvPr>
        </p:nvSpPr>
        <p:spPr bwMode="auto">
          <a:xfrm>
            <a:off x="722313" y="1035563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1261896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488733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5CF71F39-3D09-F149-B1A1-DC2A7DB4A435}" type="datetimeFigureOut">
              <a:rPr lang="en-US"/>
              <a:t>4/9/15</a:t>
            </a:fld>
            <a:endParaRPr lang="en-US"/>
          </a:p>
        </p:txBody>
      </p:sp>
      <p:sp>
        <p:nvSpPr>
          <p:cNvPr id="65990461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7808698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18231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34974967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9"/>
            <a:ext cx="4038598" cy="333613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80639483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4648199" y="1258489"/>
            <a:ext cx="4038598" cy="333613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896442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17E7E973-E761-9943-801C-DE1E51E28431}" type="datetimeFigureOut">
              <a:rPr lang="en-US"/>
              <a:t>4/9/15</a:t>
            </a:fld>
            <a:endParaRPr lang="en-US"/>
          </a:p>
        </p:txBody>
      </p:sp>
      <p:sp>
        <p:nvSpPr>
          <p:cNvPr id="131690017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9491484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326044" name="Title 1"/>
          <p:cNvSpPr>
            <a:spLocks noGrp="1"/>
          </p:cNvSpPr>
          <p:nvPr>
            <p:ph type="title"/>
          </p:nvPr>
        </p:nvSpPr>
        <p:spPr bwMode="auto">
          <a:xfrm>
            <a:off x="457202" y="457429"/>
            <a:ext cx="8229600" cy="80129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14753356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457200" y="1258719"/>
            <a:ext cx="4040187" cy="333590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64845188" name="Content Placeholder 5"/>
          <p:cNvSpPr>
            <a:spLocks noGrp="1"/>
          </p:cNvSpPr>
          <p:nvPr>
            <p:ph sz="quarter" idx="4"/>
          </p:nvPr>
        </p:nvSpPr>
        <p:spPr bwMode="auto">
          <a:xfrm flipH="0" flipV="0">
            <a:off x="4645027" y="1258719"/>
            <a:ext cx="4041774" cy="333590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8136147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18ACE534-2B3A-FA4B-B87A-8AC244117610}" type="datetimeFigureOut">
              <a:rPr lang="en-US"/>
              <a:t>4/9/15</a:t>
            </a:fld>
            <a:endParaRPr lang="en-US"/>
          </a:p>
        </p:txBody>
      </p:sp>
      <p:sp>
        <p:nvSpPr>
          <p:cNvPr id="181550291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643933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176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7536338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22CDFFB5-C0BC-DE4D-9A38-E0EE75FC9E15}" type="datetimeFigureOut">
              <a:rPr lang="en-US"/>
              <a:t>4/9/15</a:t>
            </a:fld>
            <a:endParaRPr lang="en-US"/>
          </a:p>
        </p:txBody>
      </p:sp>
      <p:sp>
        <p:nvSpPr>
          <p:cNvPr id="149485345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4421968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58502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EF42570F-F7E3-1F40-B6F3-59FE945D5A70}" type="datetimeFigureOut">
              <a:rPr lang="en-US"/>
              <a:t>4/9/15</a:t>
            </a:fld>
            <a:endParaRPr lang="en-US"/>
          </a:p>
        </p:txBody>
      </p:sp>
      <p:sp>
        <p:nvSpPr>
          <p:cNvPr id="2258688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695831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689108" name="Title 1"/>
          <p:cNvSpPr>
            <a:spLocks noGrp="1"/>
          </p:cNvSpPr>
          <p:nvPr>
            <p:ph type="title"/>
          </p:nvPr>
        </p:nvSpPr>
        <p:spPr bwMode="auto"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7195389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0196836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505000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6371E9B0-C3DF-544F-BB14-A487ECCC7F43}" type="datetimeFigureOut">
              <a:rPr lang="en-US"/>
              <a:t>4/9/15</a:t>
            </a:fld>
            <a:endParaRPr lang="en-US"/>
          </a:p>
        </p:txBody>
      </p:sp>
      <p:sp>
        <p:nvSpPr>
          <p:cNvPr id="70907059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287288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026455" name="Title 1"/>
          <p:cNvSpPr>
            <a:spLocks noGrp="1"/>
          </p:cNvSpPr>
          <p:nvPr>
            <p:ph type="title"/>
          </p:nvPr>
        </p:nvSpPr>
        <p:spPr bwMode="auto"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10092395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97764015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864328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E5C4B1CF-5E0C-5D41-A3E2-D78942339385}" type="datetimeFigureOut">
              <a:rPr lang="en-US"/>
              <a:t>4/9/15</a:t>
            </a:fld>
            <a:endParaRPr lang="en-US"/>
          </a:p>
        </p:txBody>
      </p:sp>
      <p:sp>
        <p:nvSpPr>
          <p:cNvPr id="6073901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87409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43764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088869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779237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73BC5DAC-1A13-D34F-9418-D6257772B49C}" type="datetimeFigureOut">
              <a:rPr lang="en-US"/>
              <a:t>4/9/15</a:t>
            </a:fld>
            <a:endParaRPr lang="en-US"/>
          </a:p>
        </p:txBody>
      </p:sp>
      <p:sp>
        <p:nvSpPr>
          <p:cNvPr id="150722053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4063917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238468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05980"/>
            <a:ext cx="2057400" cy="4388644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62855597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05980"/>
            <a:ext cx="6019800" cy="4388644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5695574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B4EC0D93-568E-6D41-8E6D-0963A71A503C}" type="datetimeFigureOut">
              <a:rPr lang="en-US"/>
              <a:t>4/9/15</a:t>
            </a:fld>
            <a:endParaRPr lang="en-US"/>
          </a:p>
        </p:txBody>
      </p:sp>
      <p:sp>
        <p:nvSpPr>
          <p:cNvPr id="96709981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87546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168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199" y="457200"/>
            <a:ext cx="8229600" cy="80129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/>
          </a:bodyPr>
          <a:lstStyle/>
          <a:p>
            <a:pPr lvl="0">
              <a:defRPr/>
            </a:pPr>
            <a:r>
              <a:rPr lang="en-US"/>
              <a:t>Headline Line One</a:t>
            </a:r>
            <a:br>
              <a:rPr lang="en-US"/>
            </a:br>
            <a:r>
              <a:rPr lang="en-US"/>
              <a:t>Headline Line Two</a:t>
            </a:r>
            <a:endParaRPr/>
          </a:p>
        </p:txBody>
      </p:sp>
      <p:sp>
        <p:nvSpPr>
          <p:cNvPr id="1032950059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457199" y="1258489"/>
            <a:ext cx="8229600" cy="333613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8420206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1pPr>
          </a:lstStyle>
          <a:p>
            <a:pPr>
              <a:defRPr/>
            </a:pPr>
            <a:fld id="{C944504B-B211-B34D-97AF-78446C71FCDD}" type="datetimeFigureOut">
              <a:rPr lang="en-US"/>
              <a:t>4/9/15</a:t>
            </a:fld>
            <a:endParaRPr lang="en-US"/>
          </a:p>
        </p:txBody>
      </p:sp>
      <p:sp>
        <p:nvSpPr>
          <p:cNvPr id="193986997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0448320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t>‹#›</a:t>
            </a:fld>
            <a:endParaRPr lang="en-US"/>
          </a:p>
        </p:txBody>
      </p:sp>
      <p:pic>
        <p:nvPicPr>
          <p:cNvPr id="583155094" name="Picture 7"/>
          <p:cNvPicPr>
            <a:picLocks noChangeAspect="1"/>
          </p:cNvPicPr>
          <p:nvPr userDrawn="1"/>
        </p:nvPicPr>
        <p:blipFill rotWithShape="1">
          <a:blip r:embed="rId13"/>
          <a:stretch/>
        </p:blipFill>
        <p:spPr bwMode="auto">
          <a:xfrm>
            <a:off x="1" y="0"/>
            <a:ext cx="9152194" cy="4572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  <a:cs typeface="Arial"/>
        </a:defRPr>
      </a:lvl1pPr>
      <a:lvl2pPr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2pPr>
      <a:lvl3pPr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3pPr>
      <a:lvl4pPr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4pPr>
      <a:lvl5pPr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5pPr>
      <a:lvl6pPr marL="457200"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6pPr>
      <a:lvl7pPr marL="914400"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7pPr>
      <a:lvl8pPr marL="1371600"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8pPr>
      <a:lvl9pPr marL="1828800"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9pPr>
    </p:titleStyle>
    <p:bodyStyle>
      <a:lvl1pPr marL="342900" indent="-342900" algn="l" defTabSz="457200" rtl="0">
        <a:spcBef>
          <a:spcPts val="0"/>
        </a:spcBef>
        <a:spcAft>
          <a:spcPts val="0"/>
        </a:spcAft>
        <a:buFont typeface="Arial"/>
        <a:buChar char="•"/>
        <a:defRPr sz="2400">
          <a:solidFill>
            <a:schemeClr val="tx1"/>
          </a:solidFill>
          <a:latin typeface="Arial"/>
          <a:ea typeface="ＭＳ Ｐゴシック"/>
          <a:cs typeface="Arial"/>
        </a:defRPr>
      </a:lvl1pPr>
      <a:lvl2pPr marL="742950" indent="-285750" algn="l" defTabSz="457200" rtl="0">
        <a:spcBef>
          <a:spcPts val="0"/>
        </a:spcBef>
        <a:spcAft>
          <a:spcPts val="0"/>
        </a:spcAft>
        <a:buFont typeface="Arial"/>
        <a:buChar char="–"/>
        <a:defRPr sz="2400">
          <a:solidFill>
            <a:schemeClr val="tx1"/>
          </a:solidFill>
          <a:latin typeface="Arial"/>
          <a:ea typeface="ＭＳ Ｐゴシック"/>
          <a:cs typeface="Arial"/>
        </a:defRPr>
      </a:lvl2pPr>
      <a:lvl3pPr marL="1143000" indent="-228600" algn="l" defTabSz="457200" rtl="0">
        <a:spcBef>
          <a:spcPts val="0"/>
        </a:spcBef>
        <a:spcAft>
          <a:spcPts val="0"/>
        </a:spcAft>
        <a:buFont typeface="Arial"/>
        <a:buChar char="•"/>
        <a:defRPr>
          <a:solidFill>
            <a:schemeClr val="tx1"/>
          </a:solidFill>
          <a:latin typeface="Arial"/>
          <a:ea typeface="ＭＳ Ｐゴシック"/>
          <a:cs typeface="Arial"/>
        </a:defRPr>
      </a:lvl3pPr>
      <a:lvl4pPr marL="1600200" indent="-228600" algn="l" defTabSz="457200" rtl="0">
        <a:spcBef>
          <a:spcPts val="0"/>
        </a:spcBef>
        <a:spcAft>
          <a:spcPts val="0"/>
        </a:spcAft>
        <a:buFont typeface="Arial"/>
        <a:buChar char="–"/>
        <a:defRPr sz="1400">
          <a:solidFill>
            <a:schemeClr val="tx1"/>
          </a:solidFill>
          <a:latin typeface="Arial"/>
          <a:ea typeface="ＭＳ Ｐゴシック"/>
          <a:cs typeface="Arial"/>
        </a:defRPr>
      </a:lvl4pPr>
      <a:lvl5pPr marL="2057400" indent="-228600" algn="l" defTabSz="457200" rtl="0">
        <a:spcBef>
          <a:spcPts val="0"/>
        </a:spcBef>
        <a:spcAft>
          <a:spcPts val="0"/>
        </a:spcAft>
        <a:buFont typeface="Arial"/>
        <a:buChar char="»"/>
        <a:defRPr sz="1000">
          <a:solidFill>
            <a:schemeClr val="tx1"/>
          </a:solidFill>
          <a:latin typeface="Arial"/>
          <a:ea typeface="ＭＳ Ｐゴシック"/>
          <a:cs typeface="Arial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770968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>
                <a:latin typeface="Arial"/>
              </a:rPr>
              <a:t>SciantixML</a:t>
            </a:r>
            <a:endParaRPr lang="en-US">
              <a:latin typeface="Arial"/>
            </a:endParaRPr>
          </a:p>
        </p:txBody>
      </p:sp>
      <p:sp>
        <p:nvSpPr>
          <p:cNvPr id="606012803" name="Subtitle 2"/>
          <p:cNvSpPr>
            <a:spLocks noGrp="1"/>
          </p:cNvSpPr>
          <p:nvPr>
            <p:ph type="subTitle" idx="1"/>
          </p:nvPr>
        </p:nvSpPr>
        <p:spPr bwMode="auto"/>
        <p:txBody>
          <a:bodyPr rtlCol="0">
            <a:normAutofit/>
          </a:bodyPr>
          <a:lstStyle/>
          <a:p>
            <a:pPr>
              <a:spcAft>
                <a:spcPts val="0"/>
              </a:spcAft>
              <a:buFont typeface="Arial"/>
              <a:buNone/>
              <a:defRPr/>
            </a:pPr>
            <a:r>
              <a:rPr lang="en-US">
                <a:ea typeface="+mn-ea"/>
              </a:rPr>
              <a:t>Fletcher Smith</a:t>
            </a:r>
            <a:endParaRPr lang="en-US">
              <a:ea typeface="Arial"/>
            </a:endParaRPr>
          </a:p>
          <a:p>
            <a:pPr>
              <a:spcAft>
                <a:spcPts val="0"/>
              </a:spcAft>
              <a:buFont typeface="Arial"/>
              <a:buNone/>
              <a:defRPr/>
            </a:pPr>
            <a:r>
              <a:rPr lang="en-US">
                <a:ea typeface="Arial"/>
              </a:rPr>
              <a:t>February 20, 2026</a:t>
            </a:r>
            <a:endParaRPr lang="en-US">
              <a:ea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466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Outline</a:t>
            </a:r>
            <a:endParaRPr/>
          </a:p>
        </p:txBody>
      </p:sp>
      <p:sp>
        <p:nvSpPr>
          <p:cNvPr id="105119203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Neural Networks</a:t>
            </a:r>
            <a:endParaRPr/>
          </a:p>
          <a:p>
            <a:pPr lvl="1">
              <a:defRPr/>
            </a:pPr>
            <a:r>
              <a:rPr/>
              <a:t>Perceptron</a:t>
            </a:r>
            <a:endParaRPr/>
          </a:p>
          <a:p>
            <a:pPr lvl="1">
              <a:defRPr/>
            </a:pPr>
            <a:r>
              <a:rPr/>
              <a:t>Multi-Layer Perceptron</a:t>
            </a:r>
            <a:endParaRPr/>
          </a:p>
          <a:p>
            <a:pPr lvl="1">
              <a:defRPr/>
            </a:pPr>
            <a:r>
              <a:rPr/>
              <a:t>Recursive Neural Networks (RNNs)</a:t>
            </a:r>
            <a:endParaRPr/>
          </a:p>
          <a:p>
            <a:pPr lvl="1">
              <a:defRPr/>
            </a:pPr>
            <a:r>
              <a:rPr/>
              <a:t>NeuralODE</a:t>
            </a:r>
            <a:endParaRPr/>
          </a:p>
          <a:p>
            <a:pPr lvl="0">
              <a:defRPr/>
            </a:pPr>
            <a:r>
              <a:rPr/>
              <a:t>Gathering 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077718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Neural Networks</a:t>
            </a:r>
            <a:endParaRPr/>
          </a:p>
        </p:txBody>
      </p:sp>
      <p:sp>
        <p:nvSpPr>
          <p:cNvPr id="31134997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180034"/>
            <a:ext cx="7772400" cy="1125139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53675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Neurons</a:t>
            </a:r>
            <a:endParaRPr/>
          </a:p>
        </p:txBody>
      </p:sp>
      <p:sp>
        <p:nvSpPr>
          <p:cNvPr id="626798918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8"/>
            <a:ext cx="4038598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/>
              <a:t>Neurons receive signals via their dendrites</a:t>
            </a:r>
            <a:endParaRPr/>
          </a:p>
          <a:p>
            <a:pPr>
              <a:defRPr/>
            </a:pPr>
            <a:r>
              <a:rPr/>
              <a:t>Once they neuron’s action potential has been reached, it sends an electrical signal to the axon</a:t>
            </a:r>
            <a:endParaRPr/>
          </a:p>
          <a:p>
            <a:pPr>
              <a:defRPr/>
            </a:pPr>
            <a:r>
              <a:rPr/>
              <a:t>The axon signals to other neurons</a:t>
            </a:r>
            <a:endParaRPr/>
          </a:p>
        </p:txBody>
      </p:sp>
      <p:pic>
        <p:nvPicPr>
          <p:cNvPr id="1272906809" name=""/>
          <p:cNvPicPr>
            <a:picLocks noChangeAspect="1"/>
          </p:cNvPicPr>
          <p:nvPr>
            <p:ph sz="half" idx="2"/>
          </p:nvPr>
        </p:nvPicPr>
        <p:blipFill rotWithShape="1">
          <a:blip r:embed="rId3"/>
          <a:stretch/>
        </p:blipFill>
        <p:spPr bwMode="auto">
          <a:xfrm rot="0">
            <a:off x="4648197" y="1931863"/>
            <a:ext cx="4038598" cy="19893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2047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Perceptron</a:t>
            </a:r>
            <a:endParaRPr/>
          </a:p>
        </p:txBody>
      </p:sp>
      <p:sp>
        <p:nvSpPr>
          <p:cNvPr id="44841400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180034"/>
            <a:ext cx="7772400" cy="1125139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06516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Perceptron</a:t>
            </a:r>
            <a:endParaRPr/>
          </a:p>
        </p:txBody>
      </p:sp>
      <p:sp>
        <p:nvSpPr>
          <p:cNvPr id="412976423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8"/>
            <a:ext cx="3264950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/>
              <a:t>Published by </a:t>
            </a:r>
            <a:r>
              <a:rPr/>
              <a:t>Frank Rosenblatt in 1958</a:t>
            </a:r>
            <a:endParaRPr/>
          </a:p>
          <a:p>
            <a:pPr>
              <a:defRPr/>
            </a:pPr>
            <a:r>
              <a:rPr/>
              <a:t>Multiplies input by a weight and takes the sum</a:t>
            </a:r>
            <a:endParaRPr/>
          </a:p>
          <a:p>
            <a:pPr>
              <a:defRPr/>
            </a:pPr>
            <a:r>
              <a:rPr/>
              <a:t>If sum exceeded a threshold, output 1</a:t>
            </a:r>
            <a:endParaRPr/>
          </a:p>
          <a:p>
            <a:pPr>
              <a:defRPr/>
            </a:pPr>
            <a:r>
              <a:rPr/>
              <a:t>If not, output 0 </a:t>
            </a:r>
            <a:endParaRPr/>
          </a:p>
        </p:txBody>
      </p:sp>
      <p:pic>
        <p:nvPicPr>
          <p:cNvPr id="999787189" name=""/>
          <p:cNvPicPr>
            <a:picLocks noChangeAspect="1"/>
          </p:cNvPicPr>
          <p:nvPr>
            <p:ph sz="half" idx="2"/>
          </p:nvPr>
        </p:nvPicPr>
        <p:blipFill rotWithShape="1">
          <a:blip r:embed="rId3"/>
          <a:stretch/>
        </p:blipFill>
        <p:spPr bwMode="auto">
          <a:xfrm rot="0">
            <a:off x="3914127" y="1733387"/>
            <a:ext cx="4772669" cy="23863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492174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Perceptron Example</a:t>
            </a:r>
            <a:r>
              <a:rPr/>
              <a:t> – Good Pizza</a:t>
            </a:r>
            <a:endParaRPr/>
          </a:p>
        </p:txBody>
      </p:sp>
      <p:sp>
        <p:nvSpPr>
          <p:cNvPr id="1093481147" name=""/>
          <p:cNvSpPr txBox="1"/>
          <p:nvPr/>
        </p:nvSpPr>
        <p:spPr bwMode="auto">
          <a:xfrm rot="0" flipH="0" flipV="0">
            <a:off x="524298" y="1258489"/>
            <a:ext cx="1629816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Pepperoni</a:t>
            </a:r>
            <a:endParaRPr/>
          </a:p>
          <a:p>
            <a:pPr algn="ctr">
              <a:defRPr/>
            </a:pPr>
            <a:r>
              <a:rPr/>
              <a:t>10</a:t>
            </a:r>
            <a:endParaRPr/>
          </a:p>
        </p:txBody>
      </p:sp>
      <p:sp>
        <p:nvSpPr>
          <p:cNvPr id="492414946" name=""/>
          <p:cNvSpPr txBox="1"/>
          <p:nvPr/>
        </p:nvSpPr>
        <p:spPr bwMode="auto">
          <a:xfrm rot="0" flipH="0" flipV="0">
            <a:off x="537616" y="2143384"/>
            <a:ext cx="1635935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Cheese</a:t>
            </a:r>
            <a:endParaRPr/>
          </a:p>
          <a:p>
            <a:pPr algn="ctr">
              <a:defRPr/>
            </a:pPr>
            <a:r>
              <a:rPr/>
              <a:t>5</a:t>
            </a:r>
            <a:endParaRPr/>
          </a:p>
        </p:txBody>
      </p:sp>
      <p:sp>
        <p:nvSpPr>
          <p:cNvPr id="1444759641" name=""/>
          <p:cNvSpPr txBox="1"/>
          <p:nvPr/>
        </p:nvSpPr>
        <p:spPr bwMode="auto">
          <a:xfrm rot="0" flipH="0" flipV="0">
            <a:off x="512420" y="3142843"/>
            <a:ext cx="1641694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Veggies</a:t>
            </a:r>
            <a:endParaRPr/>
          </a:p>
          <a:p>
            <a:pPr algn="ctr">
              <a:defRPr/>
            </a:pPr>
            <a:r>
              <a:rPr/>
              <a:t>3</a:t>
            </a:r>
            <a:endParaRPr/>
          </a:p>
        </p:txBody>
      </p:sp>
      <p:sp>
        <p:nvSpPr>
          <p:cNvPr id="1044980430" name=""/>
          <p:cNvSpPr txBox="1"/>
          <p:nvPr/>
        </p:nvSpPr>
        <p:spPr bwMode="auto">
          <a:xfrm rot="0" flipH="0" flipV="0">
            <a:off x="524298" y="4007984"/>
            <a:ext cx="1649253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Gluten-Free</a:t>
            </a:r>
            <a:endParaRPr/>
          </a:p>
          <a:p>
            <a:pPr algn="ctr">
              <a:defRPr/>
            </a:pPr>
            <a:r>
              <a:rPr/>
              <a:t>0</a:t>
            </a:r>
            <a:endParaRPr/>
          </a:p>
        </p:txBody>
      </p:sp>
      <p:sp>
        <p:nvSpPr>
          <p:cNvPr id="1557187866" name=""/>
          <p:cNvSpPr txBox="1"/>
          <p:nvPr/>
        </p:nvSpPr>
        <p:spPr bwMode="auto">
          <a:xfrm rot="0" flipH="0" flipV="0">
            <a:off x="4208274" y="2354736"/>
            <a:ext cx="1672292" cy="1189079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Weighted Sum</a:t>
            </a:r>
            <a:endParaRPr/>
          </a:p>
          <a:p>
            <a:pPr algn="ctr">
              <a:defRPr/>
            </a:pPr>
            <a:r>
              <a:rPr/>
              <a:t>1.9</a:t>
            </a:r>
            <a:endParaRPr/>
          </a:p>
          <a:p>
            <a:pPr algn="ctr">
              <a:defRPr/>
            </a:pPr>
            <a:r>
              <a:rPr/>
              <a:t>Threshold</a:t>
            </a:r>
            <a:endParaRPr/>
          </a:p>
          <a:p>
            <a:pPr algn="ctr">
              <a:defRPr/>
            </a:pPr>
            <a:r>
              <a:rPr/>
              <a:t>0</a:t>
            </a:r>
            <a:endParaRPr/>
          </a:p>
        </p:txBody>
      </p:sp>
      <p:sp>
        <p:nvSpPr>
          <p:cNvPr id="2042627820" name=""/>
          <p:cNvSpPr txBox="1"/>
          <p:nvPr/>
        </p:nvSpPr>
        <p:spPr bwMode="auto">
          <a:xfrm rot="0" flipH="0" flipV="0">
            <a:off x="7014147" y="2657170"/>
            <a:ext cx="1673370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Output</a:t>
            </a:r>
            <a:endParaRPr/>
          </a:p>
          <a:p>
            <a:pPr algn="ctr">
              <a:defRPr/>
            </a:pPr>
            <a:r>
              <a:rPr/>
              <a:t>1</a:t>
            </a:r>
            <a:endParaRPr/>
          </a:p>
        </p:txBody>
      </p:sp>
      <p:cxnSp>
        <p:nvCxnSpPr>
          <p:cNvPr id="479911784" name=""/>
          <p:cNvCxnSpPr>
            <a:stCxn id="1093481147" idx="3"/>
            <a:endCxn id="1557187866" idx="1"/>
          </p:cNvCxnSpPr>
          <p:nvPr/>
        </p:nvCxnSpPr>
        <p:spPr bwMode="auto">
          <a:xfrm rot="0" flipH="0" flipV="0">
            <a:off x="2154115" y="1578709"/>
            <a:ext cx="2054159" cy="1370566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15609491" name=""/>
          <p:cNvCxnSpPr>
            <a:endCxn id="1557187866" idx="1"/>
          </p:cNvCxnSpPr>
          <p:nvPr/>
        </p:nvCxnSpPr>
        <p:spPr bwMode="auto">
          <a:xfrm rot="0" flipH="0" flipV="0">
            <a:off x="2173552" y="2463604"/>
            <a:ext cx="2034722" cy="485672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92762146" name=""/>
          <p:cNvCxnSpPr>
            <a:endCxn id="1557187866" idx="1"/>
          </p:cNvCxnSpPr>
          <p:nvPr/>
        </p:nvCxnSpPr>
        <p:spPr bwMode="auto">
          <a:xfrm rot="0" flipH="0" flipV="1">
            <a:off x="2154115" y="2949276"/>
            <a:ext cx="2054159" cy="513786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691235629" name=""/>
          <p:cNvCxnSpPr>
            <a:stCxn id="1044980430" idx="3"/>
            <a:endCxn id="1557187866" idx="1"/>
          </p:cNvCxnSpPr>
          <p:nvPr/>
        </p:nvCxnSpPr>
        <p:spPr bwMode="auto">
          <a:xfrm rot="0" flipH="0" flipV="1">
            <a:off x="2173552" y="2949276"/>
            <a:ext cx="2034722" cy="1378927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671039110" name=""/>
          <p:cNvSpPr txBox="1"/>
          <p:nvPr/>
        </p:nvSpPr>
        <p:spPr bwMode="auto">
          <a:xfrm rot="0" flipH="0" flipV="0">
            <a:off x="2924192" y="1670538"/>
            <a:ext cx="54399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0.2</a:t>
            </a:r>
            <a:endParaRPr/>
          </a:p>
        </p:txBody>
      </p:sp>
      <p:sp>
        <p:nvSpPr>
          <p:cNvPr id="778550811" name=""/>
          <p:cNvSpPr txBox="1"/>
          <p:nvPr/>
        </p:nvSpPr>
        <p:spPr bwMode="auto">
          <a:xfrm rot="0" flipH="0" flipV="0">
            <a:off x="2533680" y="2205630"/>
            <a:ext cx="54435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0.1</a:t>
            </a:r>
            <a:endParaRPr/>
          </a:p>
        </p:txBody>
      </p:sp>
      <p:sp>
        <p:nvSpPr>
          <p:cNvPr id="265958143" name=""/>
          <p:cNvSpPr txBox="1"/>
          <p:nvPr/>
        </p:nvSpPr>
        <p:spPr bwMode="auto">
          <a:xfrm rot="0" flipH="0" flipV="0">
            <a:off x="2652556" y="3896457"/>
            <a:ext cx="54327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-1</a:t>
            </a:r>
            <a:endParaRPr/>
          </a:p>
        </p:txBody>
      </p:sp>
      <p:sp>
        <p:nvSpPr>
          <p:cNvPr id="147923538" name=""/>
          <p:cNvSpPr txBox="1"/>
          <p:nvPr/>
        </p:nvSpPr>
        <p:spPr bwMode="auto">
          <a:xfrm rot="0" flipH="0" flipV="0">
            <a:off x="2380380" y="2949276"/>
            <a:ext cx="54471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-0.2</a:t>
            </a:r>
            <a:endParaRPr/>
          </a:p>
        </p:txBody>
      </p:sp>
      <p:cxnSp>
        <p:nvCxnSpPr>
          <p:cNvPr id="1595706191" name=""/>
          <p:cNvCxnSpPr>
            <a:endCxn id="2042627820" idx="1"/>
          </p:cNvCxnSpPr>
          <p:nvPr/>
        </p:nvCxnSpPr>
        <p:spPr bwMode="auto">
          <a:xfrm rot="0" flipH="0" flipV="0">
            <a:off x="5880567" y="2977390"/>
            <a:ext cx="1133579" cy="0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9440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Perceptron Example</a:t>
            </a:r>
            <a:r>
              <a:rPr/>
              <a:t> – Bad Pizza</a:t>
            </a:r>
            <a:endParaRPr/>
          </a:p>
        </p:txBody>
      </p:sp>
      <p:sp>
        <p:nvSpPr>
          <p:cNvPr id="1776869327" name=""/>
          <p:cNvSpPr txBox="1"/>
          <p:nvPr/>
        </p:nvSpPr>
        <p:spPr bwMode="auto">
          <a:xfrm rot="0" flipH="0" flipV="0">
            <a:off x="524298" y="1258489"/>
            <a:ext cx="1630896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Pepperoni</a:t>
            </a:r>
            <a:endParaRPr/>
          </a:p>
          <a:p>
            <a:pPr algn="ctr">
              <a:defRPr/>
            </a:pPr>
            <a:r>
              <a:rPr/>
              <a:t>1</a:t>
            </a:r>
            <a:endParaRPr/>
          </a:p>
        </p:txBody>
      </p:sp>
      <p:sp>
        <p:nvSpPr>
          <p:cNvPr id="1648641763" name=""/>
          <p:cNvSpPr txBox="1"/>
          <p:nvPr/>
        </p:nvSpPr>
        <p:spPr bwMode="auto">
          <a:xfrm rot="0" flipH="0" flipV="0">
            <a:off x="537616" y="2143384"/>
            <a:ext cx="1637375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Cheese</a:t>
            </a:r>
            <a:endParaRPr/>
          </a:p>
          <a:p>
            <a:pPr algn="ctr">
              <a:defRPr/>
            </a:pPr>
            <a:r>
              <a:rPr/>
              <a:t>3</a:t>
            </a:r>
            <a:endParaRPr/>
          </a:p>
        </p:txBody>
      </p:sp>
      <p:sp>
        <p:nvSpPr>
          <p:cNvPr id="1927506554" name=""/>
          <p:cNvSpPr txBox="1"/>
          <p:nvPr/>
        </p:nvSpPr>
        <p:spPr bwMode="auto">
          <a:xfrm rot="0" flipH="0" flipV="0">
            <a:off x="512420" y="3142843"/>
            <a:ext cx="1642414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Veggies</a:t>
            </a:r>
            <a:endParaRPr/>
          </a:p>
          <a:p>
            <a:pPr algn="ctr">
              <a:defRPr/>
            </a:pPr>
            <a:r>
              <a:rPr/>
              <a:t>9</a:t>
            </a:r>
            <a:endParaRPr/>
          </a:p>
        </p:txBody>
      </p:sp>
      <p:sp>
        <p:nvSpPr>
          <p:cNvPr id="1682536998" name=""/>
          <p:cNvSpPr txBox="1"/>
          <p:nvPr/>
        </p:nvSpPr>
        <p:spPr bwMode="auto">
          <a:xfrm rot="0" flipH="0" flipV="0">
            <a:off x="524298" y="4007984"/>
            <a:ext cx="1649973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Gluten-Free</a:t>
            </a:r>
            <a:endParaRPr/>
          </a:p>
          <a:p>
            <a:pPr algn="ctr">
              <a:defRPr/>
            </a:pPr>
            <a:r>
              <a:rPr/>
              <a:t>1</a:t>
            </a:r>
            <a:endParaRPr/>
          </a:p>
        </p:txBody>
      </p:sp>
      <p:sp>
        <p:nvSpPr>
          <p:cNvPr id="1439429880" name=""/>
          <p:cNvSpPr txBox="1"/>
          <p:nvPr/>
        </p:nvSpPr>
        <p:spPr bwMode="auto">
          <a:xfrm rot="0" flipH="0" flipV="0">
            <a:off x="4208274" y="2354736"/>
            <a:ext cx="1684172" cy="1189079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Weighted Sum</a:t>
            </a:r>
            <a:endParaRPr/>
          </a:p>
          <a:p>
            <a:pPr algn="ctr">
              <a:defRPr/>
            </a:pPr>
            <a:r>
              <a:rPr/>
              <a:t>-2.3</a:t>
            </a:r>
            <a:endParaRPr/>
          </a:p>
          <a:p>
            <a:pPr algn="ctr">
              <a:defRPr/>
            </a:pPr>
            <a:r>
              <a:rPr/>
              <a:t>Threshold</a:t>
            </a:r>
            <a:endParaRPr/>
          </a:p>
          <a:p>
            <a:pPr algn="ctr">
              <a:defRPr/>
            </a:pPr>
            <a:r>
              <a:rPr/>
              <a:t>0</a:t>
            </a:r>
            <a:endParaRPr/>
          </a:p>
        </p:txBody>
      </p:sp>
      <p:sp>
        <p:nvSpPr>
          <p:cNvPr id="1257857412" name=""/>
          <p:cNvSpPr txBox="1"/>
          <p:nvPr/>
        </p:nvSpPr>
        <p:spPr bwMode="auto">
          <a:xfrm rot="0" flipH="0" flipV="0">
            <a:off x="7014147" y="2657170"/>
            <a:ext cx="1674090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Output</a:t>
            </a:r>
            <a:endParaRPr/>
          </a:p>
          <a:p>
            <a:pPr algn="ctr">
              <a:defRPr/>
            </a:pPr>
            <a:r>
              <a:rPr/>
              <a:t>0</a:t>
            </a:r>
            <a:endParaRPr/>
          </a:p>
        </p:txBody>
      </p:sp>
      <p:cxnSp>
        <p:nvCxnSpPr>
          <p:cNvPr id="661168819" name=""/>
          <p:cNvCxnSpPr>
            <a:stCxn id="1776869327" idx="3"/>
            <a:endCxn id="1439429880" idx="1"/>
          </p:cNvCxnSpPr>
          <p:nvPr/>
        </p:nvCxnSpPr>
        <p:spPr bwMode="auto">
          <a:xfrm rot="0" flipH="0" flipV="0">
            <a:off x="2154115" y="1578709"/>
            <a:ext cx="2054159" cy="1370566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05793704" name=""/>
          <p:cNvCxnSpPr>
            <a:endCxn id="1439429880" idx="1"/>
          </p:cNvCxnSpPr>
          <p:nvPr/>
        </p:nvCxnSpPr>
        <p:spPr bwMode="auto">
          <a:xfrm rot="0" flipH="0" flipV="0">
            <a:off x="2173552" y="2463604"/>
            <a:ext cx="2034722" cy="485672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014002803" name=""/>
          <p:cNvCxnSpPr>
            <a:endCxn id="1439429880" idx="1"/>
          </p:cNvCxnSpPr>
          <p:nvPr/>
        </p:nvCxnSpPr>
        <p:spPr bwMode="auto">
          <a:xfrm rot="0" flipH="0" flipV="1">
            <a:off x="2154115" y="2949276"/>
            <a:ext cx="2054159" cy="513786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18813855" name=""/>
          <p:cNvCxnSpPr>
            <a:stCxn id="1682536998" idx="3"/>
            <a:endCxn id="1439429880" idx="1"/>
          </p:cNvCxnSpPr>
          <p:nvPr/>
        </p:nvCxnSpPr>
        <p:spPr bwMode="auto">
          <a:xfrm rot="0" flipH="0" flipV="1">
            <a:off x="2173552" y="2949276"/>
            <a:ext cx="2034722" cy="1378927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6109018" name=""/>
          <p:cNvSpPr txBox="1"/>
          <p:nvPr/>
        </p:nvSpPr>
        <p:spPr bwMode="auto">
          <a:xfrm rot="0" flipH="0" flipV="0">
            <a:off x="2924192" y="1670538"/>
            <a:ext cx="54399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0.2</a:t>
            </a:r>
            <a:endParaRPr/>
          </a:p>
        </p:txBody>
      </p:sp>
      <p:sp>
        <p:nvSpPr>
          <p:cNvPr id="1796217023" name=""/>
          <p:cNvSpPr txBox="1"/>
          <p:nvPr/>
        </p:nvSpPr>
        <p:spPr bwMode="auto">
          <a:xfrm rot="0" flipH="0" flipV="0">
            <a:off x="2533680" y="2205630"/>
            <a:ext cx="54435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0.1</a:t>
            </a:r>
            <a:endParaRPr/>
          </a:p>
        </p:txBody>
      </p:sp>
      <p:sp>
        <p:nvSpPr>
          <p:cNvPr id="26057966" name=""/>
          <p:cNvSpPr txBox="1"/>
          <p:nvPr/>
        </p:nvSpPr>
        <p:spPr bwMode="auto">
          <a:xfrm rot="0" flipH="0" flipV="0">
            <a:off x="2652556" y="3896457"/>
            <a:ext cx="54327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-1</a:t>
            </a:r>
            <a:endParaRPr/>
          </a:p>
        </p:txBody>
      </p:sp>
      <p:sp>
        <p:nvSpPr>
          <p:cNvPr id="332867351" name=""/>
          <p:cNvSpPr txBox="1"/>
          <p:nvPr/>
        </p:nvSpPr>
        <p:spPr bwMode="auto">
          <a:xfrm rot="0" flipH="0" flipV="0">
            <a:off x="2380380" y="2949276"/>
            <a:ext cx="54471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-0.2</a:t>
            </a:r>
            <a:endParaRPr/>
          </a:p>
        </p:txBody>
      </p:sp>
      <p:cxnSp>
        <p:nvCxnSpPr>
          <p:cNvPr id="625169101" name=""/>
          <p:cNvCxnSpPr>
            <a:endCxn id="1257857412" idx="1"/>
          </p:cNvCxnSpPr>
          <p:nvPr/>
        </p:nvCxnSpPr>
        <p:spPr bwMode="auto">
          <a:xfrm rot="0" flipH="0" flipV="0">
            <a:off x="5880567" y="2977390"/>
            <a:ext cx="1133579" cy="0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4004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Threshold as a Learned Weight</a:t>
            </a:r>
            <a:endParaRPr/>
          </a:p>
        </p:txBody>
      </p:sp>
      <p:pic>
        <p:nvPicPr>
          <p:cNvPr id="934711135" name=""/>
          <p:cNvPicPr>
            <a:picLocks noChangeAspect="1"/>
          </p:cNvPicPr>
          <p:nvPr>
            <p:ph idx="1"/>
          </p:nvPr>
        </p:nvPicPr>
        <p:blipFill rotWithShape="1">
          <a:blip r:embed="rId3"/>
          <a:stretch/>
        </p:blipFill>
        <p:spPr bwMode="auto">
          <a:xfrm rot="0">
            <a:off x="1416199" y="1258488"/>
            <a:ext cx="6311598" cy="33361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73724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Training Perceptron</a:t>
            </a:r>
            <a:endParaRPr/>
          </a:p>
        </p:txBody>
      </p:sp>
      <p:sp>
        <p:nvSpPr>
          <p:cNvPr id="213878838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8"/>
            <a:ext cx="4038598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/>
              <a:t>Weights are learned as perceptron sees data</a:t>
            </a:r>
            <a:endParaRPr/>
          </a:p>
          <a:p>
            <a:pPr>
              <a:defRPr/>
            </a:pPr>
            <a:r>
              <a:rPr/>
              <a:t>Weights change if perceptron is wrong, no change if right</a:t>
            </a:r>
            <a:endParaRPr/>
          </a:p>
          <a:p>
            <a:pPr>
              <a:defRPr/>
            </a:pPr>
            <a:r>
              <a:rPr/>
              <a:t>Dataset is repeated until perceptron has learned</a:t>
            </a:r>
            <a:endParaRPr/>
          </a:p>
          <a:p>
            <a:pPr>
              <a:defRPr/>
            </a:pPr>
            <a:r>
              <a:rPr/>
              <a:t>Each time through dataset called an “epoch”</a:t>
            </a:r>
            <a:endParaRPr/>
          </a:p>
        </p:txBody>
      </p:sp>
      <p:sp>
        <p:nvSpPr>
          <p:cNvPr id="1168698505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4648197" y="1258488"/>
            <a:ext cx="4038598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indent="0" algn="ctr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data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pred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  <a:p>
            <a:pPr marL="0" indent="0" algn="l">
              <a:buFont typeface="Arial"/>
              <a:buNone/>
              <a:defRPr/>
            </a:pP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/>
              <a:t> – weight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</m:t>
                      </m:r>
                    </m:oMath>
                  </m:oMathPara>
                </a14:m>
              </mc:Choice>
              <mc:Fallback/>
            </mc:AlternateContent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ＭＳ Ｐゴシック"/>
                <a:cs typeface="Arial"/>
              </a:rPr>
              <a:t> – learning rate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data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/>
              <a:t> – target value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pred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ＭＳ Ｐゴシック"/>
                <a:cs typeface="Arial"/>
              </a:rPr>
              <a:t> – predicted value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ＭＳ Ｐゴシック"/>
                <a:cs typeface="Arial"/>
              </a:rPr>
              <a:t> – input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10013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Training Perceptron</a:t>
            </a:r>
            <a:endParaRPr/>
          </a:p>
        </p:txBody>
      </p:sp>
      <p:graphicFrame>
        <p:nvGraphicFramePr>
          <p:cNvPr id="1840116022" name=""/>
          <p:cNvGraphicFramePr>
            <a:graphicFrameLocks xmlns:a="http://schemas.openxmlformats.org/drawingml/2006/main"/>
          </p:cNvGraphicFramePr>
          <p:nvPr>
            <p:ph sz="half" idx="1"/>
          </p:nvPr>
        </p:nvGraphicFramePr>
        <p:xfrm>
          <a:off x="457200" y="1258488"/>
          <a:ext cx="4038597" cy="1346088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1009649"/>
                <a:gridCol w="1009649"/>
                <a:gridCol w="1009649"/>
                <a:gridCol w="1009649"/>
              </a:tblGrid>
              <a:tr h="365760">
                <a:tc gridSpan="3"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Features</a:t>
                      </a:r>
                      <a:endParaRPr/>
                    </a:p>
                  </a:txBody>
                  <a:tcPr anchor="ctr"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Target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51738564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4648197" y="1258488"/>
            <a:ext cx="4038597" cy="333613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indent="0" algn="ctr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data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pred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  <a:p>
            <a:pPr marL="0" indent="0" algn="l">
              <a:buFont typeface="Arial"/>
              <a:buNone/>
              <a:defRPr/>
            </a:pP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/>
              <a:t> – weight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</m:t>
                      </m:r>
                    </m:oMath>
                  </m:oMathPara>
                </a14:m>
              </mc:Choice>
              <mc:Fallback/>
            </mc:AlternateContent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ＭＳ Ｐゴシック"/>
                <a:cs typeface="Arial"/>
              </a:rPr>
              <a:t> – learning rate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data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/>
              <a:t> – target value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pred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ＭＳ Ｐゴシック"/>
                <a:cs typeface="Arial"/>
              </a:rPr>
              <a:t> – predicted value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ＭＳ Ｐゴシック"/>
                <a:cs typeface="Arial"/>
              </a:rPr>
              <a:t> – input</a:t>
            </a:r>
            <a:endParaRPr/>
          </a:p>
        </p:txBody>
      </p:sp>
      <p:sp>
        <p:nvSpPr>
          <p:cNvPr id="611171182" name=""/>
          <p:cNvSpPr txBox="1"/>
          <p:nvPr/>
        </p:nvSpPr>
        <p:spPr bwMode="auto">
          <a:xfrm rot="0" flipH="0" flipV="0">
            <a:off x="451162" y="3263604"/>
            <a:ext cx="407209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Learning Rate = 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095798658" name=""/>
          <p:cNvGraphicFramePr>
            <a:graphicFrameLocks xmlns:a="http://schemas.openxmlformats.org/drawingml/2006/main"/>
          </p:cNvGraphicFramePr>
          <p:nvPr>
            <p:ph sz="half" idx="2"/>
          </p:nvPr>
        </p:nvGraphicFramePr>
        <p:xfrm>
          <a:off x="186069" y="1324942"/>
          <a:ext cx="8771860" cy="35788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583943"/>
                <a:gridCol w="583943"/>
                <a:gridCol w="583943"/>
                <a:gridCol w="583943"/>
                <a:gridCol w="583943"/>
                <a:gridCol w="583943"/>
                <a:gridCol w="583943"/>
                <a:gridCol w="583943"/>
                <a:gridCol w="583943"/>
                <a:gridCol w="684503"/>
                <a:gridCol w="630000"/>
                <a:gridCol w="547290"/>
                <a:gridCol w="547290"/>
                <a:gridCol w="547290"/>
                <a:gridCol w="547290"/>
              </a:tblGrid>
              <a:tr h="365760">
                <a:tc gridSpan="4"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Features (with bias)</a:t>
                      </a:r>
                      <a:endParaRPr/>
                    </a:p>
                  </a:txBody>
                  <a:tcPr anchor="ctr"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Target</a:t>
                      </a:r>
                      <a:endParaRPr/>
                    </a:p>
                  </a:txBody>
                  <a:tcPr anchor="ctr"/>
                </a:tc>
                <a:tc gridSpan="4"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Weights (with bias)</a:t>
                      </a:r>
                      <a:endParaRPr/>
                    </a:p>
                  </a:txBody>
                  <a:tcPr anchor="ctr"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Net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Output</a:t>
                      </a:r>
                      <a:endParaRPr/>
                    </a:p>
                  </a:txBody>
                  <a:tcPr anchor="ctr"/>
                </a:tc>
                <a:tc gridSpan="4">
                  <a:txBody>
                    <a:bodyPr/>
                    <a:p>
                      <a:pPr algn="ctr"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>
                                <m:jc m:val="center"/>
                              </m:oMathParaPr>
                              <m:oMath>
                                <m:r>
                                  <m:rPr>
                                    <m:sty m:val="b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Δw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 anchor="ctr"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-2.2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0.6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-1.95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-2.04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-0.3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0.2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9761366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Training Perceptron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71094280" name=""/>
          <p:cNvGraphicFramePr>
            <a:graphicFrameLocks xmlns:a="http://schemas.openxmlformats.org/drawingml/2006/main"/>
          </p:cNvGraphicFramePr>
          <p:nvPr>
            <p:ph sz="half" idx="2"/>
          </p:nvPr>
        </p:nvGraphicFramePr>
        <p:xfrm>
          <a:off x="186069" y="1324942"/>
          <a:ext cx="8771860" cy="35788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583943"/>
                <a:gridCol w="583943"/>
                <a:gridCol w="583943"/>
                <a:gridCol w="583943"/>
                <a:gridCol w="583943"/>
                <a:gridCol w="583943"/>
                <a:gridCol w="583943"/>
                <a:gridCol w="583943"/>
                <a:gridCol w="583943"/>
                <a:gridCol w="684503"/>
                <a:gridCol w="630000"/>
                <a:gridCol w="547290"/>
                <a:gridCol w="547290"/>
                <a:gridCol w="547290"/>
                <a:gridCol w="547290"/>
              </a:tblGrid>
              <a:tr h="365760">
                <a:tc gridSpan="4"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Features (with bias)</a:t>
                      </a:r>
                      <a:endParaRPr/>
                    </a:p>
                  </a:txBody>
                  <a:tcPr anchor="ctr"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Target</a:t>
                      </a:r>
                      <a:endParaRPr/>
                    </a:p>
                  </a:txBody>
                  <a:tcPr anchor="ctr"/>
                </a:tc>
                <a:tc gridSpan="4"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Weights (with bias)</a:t>
                      </a:r>
                      <a:endParaRPr/>
                    </a:p>
                  </a:txBody>
                  <a:tcPr anchor="ctr"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Net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Output</a:t>
                      </a:r>
                      <a:endParaRPr/>
                    </a:p>
                  </a:txBody>
                  <a:tcPr anchor="ctr"/>
                </a:tc>
                <a:tc gridSpan="4">
                  <a:txBody>
                    <a:bodyPr/>
                    <a:p>
                      <a:pPr algn="ctr"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b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Δw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 anchor="ctr"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-0.5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-2.2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0.6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-1.95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-2.04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-0.3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0.2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30578727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Training Perceptron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9198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Perceptron Predictions</a:t>
            </a:r>
            <a:endParaRPr/>
          </a:p>
        </p:txBody>
      </p:sp>
      <p:sp>
        <p:nvSpPr>
          <p:cNvPr id="1208051910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8"/>
            <a:ext cx="2910532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/>
              <a:t>Simple model to understand and train</a:t>
            </a:r>
            <a:endParaRPr/>
          </a:p>
          <a:p>
            <a:pPr>
              <a:defRPr/>
            </a:pPr>
            <a:r>
              <a:rPr/>
              <a:t>Has 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interpretable</a:t>
            </a:r>
            <a:r>
              <a:rPr/>
              <a:t> results (larger weight, more important factor)</a:t>
            </a:r>
            <a:endParaRPr/>
          </a:p>
          <a:p>
            <a:pPr>
              <a:defRPr/>
            </a:pPr>
            <a:r>
              <a:rPr/>
              <a:t>Can only classify hyperplanes</a:t>
            </a:r>
            <a:endParaRPr/>
          </a:p>
        </p:txBody>
      </p:sp>
      <p:pic>
        <p:nvPicPr>
          <p:cNvPr id="303769064" name=""/>
          <p:cNvPicPr>
            <a:picLocks noChangeAspect="1"/>
          </p:cNvPicPr>
          <p:nvPr>
            <p:ph sz="half" idx="2"/>
          </p:nvPr>
        </p:nvPicPr>
        <p:blipFill rotWithShape="1">
          <a:blip r:embed="rId3"/>
          <a:stretch/>
        </p:blipFill>
        <p:spPr bwMode="auto">
          <a:xfrm rot="0">
            <a:off x="3472839" y="1697830"/>
            <a:ext cx="2447924" cy="2457450"/>
          </a:xfrm>
          <a:prstGeom prst="rect">
            <a:avLst/>
          </a:prstGeom>
        </p:spPr>
      </p:pic>
      <p:pic>
        <p:nvPicPr>
          <p:cNvPr id="74355030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238873" y="1697830"/>
            <a:ext cx="2447924" cy="24574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87434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Multi-Layer Perceptron (MLP)</a:t>
            </a:r>
            <a:endParaRPr/>
          </a:p>
        </p:txBody>
      </p:sp>
      <p:sp>
        <p:nvSpPr>
          <p:cNvPr id="151549828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180034"/>
            <a:ext cx="7772400" cy="1125139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04136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Multi-Layer Perceptron</a:t>
            </a:r>
            <a:endParaRPr/>
          </a:p>
        </p:txBody>
      </p:sp>
      <p:sp>
        <p:nvSpPr>
          <p:cNvPr id="398104846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8"/>
            <a:ext cx="4038597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/>
              <a:t>Rather than 1 layer of nodes, let’s have multiple layers of nodes</a:t>
            </a:r>
            <a:endParaRPr/>
          </a:p>
          <a:p>
            <a:pPr>
              <a:defRPr/>
            </a:pPr>
            <a:r>
              <a:rPr/>
              <a:t>Output from one node becomes the input to the next node</a:t>
            </a:r>
            <a:endParaRPr/>
          </a:p>
          <a:p>
            <a:pPr>
              <a:defRPr/>
            </a:pPr>
            <a:r>
              <a:rPr/>
              <a:t>“Hidden layers” are layers inside network</a:t>
            </a:r>
            <a:endParaRPr/>
          </a:p>
        </p:txBody>
      </p:sp>
      <p:pic>
        <p:nvPicPr>
          <p:cNvPr id="755732782" name=""/>
          <p:cNvPicPr>
            <a:picLocks noChangeAspect="1"/>
          </p:cNvPicPr>
          <p:nvPr>
            <p:ph sz="half" idx="2"/>
          </p:nvPr>
        </p:nvPicPr>
        <p:blipFill rotWithShape="1">
          <a:blip r:embed="rId3"/>
          <a:stretch/>
        </p:blipFill>
        <p:spPr bwMode="auto">
          <a:xfrm rot="0">
            <a:off x="4648198" y="1654396"/>
            <a:ext cx="4038597" cy="25443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5402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Training Steps</a:t>
            </a:r>
            <a:endParaRPr/>
          </a:p>
        </p:txBody>
      </p:sp>
      <p:sp>
        <p:nvSpPr>
          <p:cNvPr id="163979603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Forward Propagation</a:t>
            </a:r>
            <a:endParaRPr/>
          </a:p>
          <a:p>
            <a:pPr>
              <a:defRPr/>
            </a:pPr>
            <a:r>
              <a:rPr/>
              <a:t>Back propagation</a:t>
            </a:r>
            <a:endParaRPr/>
          </a:p>
          <a:p>
            <a:pPr>
              <a:defRPr/>
            </a:pPr>
            <a:r>
              <a:rPr/>
              <a:t>Update weights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4814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Backpropagation</a:t>
            </a:r>
            <a:endParaRPr/>
          </a:p>
        </p:txBody>
      </p:sp>
      <p:sp>
        <p:nvSpPr>
          <p:cNvPr id="2098487888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8"/>
            <a:ext cx="4038597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/>
              <a:t>Needs a differentiable activation function</a:t>
            </a:r>
            <a:endParaRPr/>
          </a:p>
          <a:p>
            <a:pPr>
              <a:defRPr/>
            </a:pPr>
            <a:endParaRPr/>
          </a:p>
        </p:txBody>
      </p:sp>
      <p:sp>
        <p:nvSpPr>
          <p:cNvPr id="1473851846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4648198" y="1258488"/>
            <a:ext cx="4038597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indent="0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net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=Z=</m:t>
                      </m:r>
                      <m:f>
                        <m:f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-net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/>
            </mc:AlternateContent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819920" name="Title 1"/>
          <p:cNvSpPr>
            <a:spLocks noGrp="1"/>
          </p:cNvSpPr>
          <p:nvPr>
            <p:ph type="title"/>
          </p:nvPr>
        </p:nvSpPr>
        <p:spPr bwMode="auto">
          <a:xfrm>
            <a:off x="722313" y="1035561"/>
            <a:ext cx="7772400" cy="1021555"/>
          </a:xfrm>
        </p:spPr>
        <p:txBody>
          <a:bodyPr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Gathering data</a:t>
            </a:r>
            <a:endParaRPr/>
          </a:p>
        </p:txBody>
      </p:sp>
      <p:sp>
        <p:nvSpPr>
          <p:cNvPr id="134984892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180034"/>
            <a:ext cx="7772400" cy="1125139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541407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Determining Variables</a:t>
            </a:r>
            <a:endParaRPr/>
          </a:p>
        </p:txBody>
      </p:sp>
      <p:sp>
        <p:nvSpPr>
          <p:cNvPr id="101154961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input_history.txt</a:t>
            </a:r>
            <a:endParaRPr/>
          </a:p>
          <a:p>
            <a:pPr lvl="1">
              <a:defRPr/>
            </a:pPr>
            <a:r>
              <a:rPr/>
              <a:t>time (hr)</a:t>
            </a:r>
            <a:endParaRPr/>
          </a:p>
          <a:p>
            <a:pPr lvl="1">
              <a:defRPr/>
            </a:pPr>
            <a:r>
              <a:rPr/>
              <a:t>Temperature (K)</a:t>
            </a:r>
            <a:endParaRPr/>
          </a:p>
          <a:p>
            <a:pPr lvl="1">
              <a:defRPr/>
            </a:pPr>
            <a:r>
              <a:rPr/>
              <a:t>Fission Rate (fissions/m^3*s)</a:t>
            </a:r>
            <a:endParaRPr/>
          </a:p>
          <a:p>
            <a:pPr lvl="1">
              <a:defRPr/>
            </a:pPr>
            <a:r>
              <a:rPr/>
              <a:t>Hydrostatic Stress (MPa)</a:t>
            </a:r>
            <a:endParaRPr/>
          </a:p>
          <a:p>
            <a:pPr lvl="0">
              <a:defRPr/>
            </a:pPr>
            <a:r>
              <a:rPr/>
              <a:t>Code linearly interpolates between entries</a:t>
            </a:r>
            <a:endParaRPr/>
          </a:p>
        </p:txBody>
      </p:sp>
      <p:pic>
        <p:nvPicPr>
          <p:cNvPr id="20337902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758167" y="3757782"/>
            <a:ext cx="3028950" cy="7143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21849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</a:t>
            </a:r>
            <a:endParaRPr/>
          </a:p>
        </p:txBody>
      </p:sp>
      <p:sp>
        <p:nvSpPr>
          <p:cNvPr id="137552162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PWRs refuel every 18 months</a:t>
            </a:r>
            <a:endParaRPr/>
          </a:p>
          <a:p>
            <a:pPr>
              <a:defRPr/>
            </a:pPr>
            <a:r>
              <a:rPr/>
              <a:t>BWRs refuel every 24 months</a:t>
            </a:r>
            <a:endParaRPr/>
          </a:p>
          <a:p>
            <a:pPr>
              <a:defRPr/>
            </a:pPr>
            <a:r>
              <a:rPr/>
              <a:t>One-third of the fuel is shuffled every fuel cycle</a:t>
            </a:r>
            <a:endParaRPr/>
          </a:p>
          <a:p>
            <a:pPr>
              <a:defRPr/>
            </a:pPr>
            <a:r>
              <a:rPr/>
              <a:t>Average capacity factor is 92.7%</a:t>
            </a:r>
            <a:r>
              <a:rPr baseline="30000"/>
              <a:t>1</a:t>
            </a:r>
            <a:endParaRPr/>
          </a:p>
        </p:txBody>
      </p:sp>
      <p:sp>
        <p:nvSpPr>
          <p:cNvPr id="113208436" name=""/>
          <p:cNvSpPr txBox="1"/>
          <p:nvPr/>
        </p:nvSpPr>
        <p:spPr bwMode="auto">
          <a:xfrm rot="0" flipH="0" flipV="0">
            <a:off x="457199" y="4594621"/>
            <a:ext cx="823031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900" u="none">
                <a:solidFill>
                  <a:schemeClr val="tx1"/>
                </a:solidFill>
              </a:rPr>
              <a:t>Source: </a:t>
            </a: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https://www.nei.org/resources/statistics/us-nuclear-operating-plant-basic-information</a:t>
            </a:r>
            <a:r>
              <a:rPr sz="1000" u="none">
                <a:solidFill>
                  <a:schemeClr val="tx1"/>
                </a:solidFill>
              </a:rPr>
              <a:t> </a:t>
            </a:r>
            <a:r>
              <a:rPr sz="900" u="none">
                <a:solidFill>
                  <a:schemeClr val="tx1"/>
                </a:solidFill>
              </a:rPr>
              <a:t>Received data from U.S. Energy Information Administration, updated July 2023</a:t>
            </a:r>
            <a:endParaRPr sz="900" u="none">
              <a:solidFill>
                <a:schemeClr val="tx1"/>
              </a:solidFill>
            </a:endParaRPr>
          </a:p>
        </p:txBody>
      </p:sp>
      <p:sp>
        <p:nvSpPr>
          <p:cNvPr id="1628367640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4648199" y="1258489"/>
            <a:ext cx="4038598" cy="333613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indent="0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Operating Hours=3 cycles⋅</m:t>
                      </m:r>
                      <m:f>
                        <m:f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24 months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 cycle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>
                        <m:f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30 days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 month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>
                        <m:f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24 hours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 day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⋅92.7% capacity factor=48,056 hours≈50,000 hours</m:t>
                      </m:r>
                    </m:oMath>
                  </m:oMathPara>
                </a14:m>
              </mc:Choice>
              <mc:Fallback/>
            </mc:AlternateContent>
            <a:endParaRPr lang="en-US" sz="24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sp>
        <p:nvSpPr>
          <p:cNvPr id="988916056" name=""/>
          <p:cNvSpPr/>
          <p:nvPr/>
        </p:nvSpPr>
        <p:spPr bwMode="auto">
          <a:xfrm>
            <a:off x="4480362" y="2388690"/>
            <a:ext cx="183636" cy="36611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a:endParaRPr>
              <a:latin typeface="Cambria Math"/>
              <a:ea typeface="Cambria Math"/>
              <a:cs typeface="Cambria Math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ONLYOFFICE/9.2.0.100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NC State University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B Dearmon</dc:creator>
  <cp:lastModifiedBy/>
  <cp:revision>6</cp:revision>
  <dcterms:created xsi:type="dcterms:W3CDTF">2014-04-10T19:16:28Z</dcterms:created>
  <dcterms:modified xsi:type="dcterms:W3CDTF">2026-02-19T16:38:35Z</dcterms:modified>
</cp:coreProperties>
</file>