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template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6858000" cy="9144000"/>
  <p:defaultTextStyle>
    <a:defPPr>
      <a:defRPr lang="en-US"/>
    </a:defPPr>
    <a:lvl1pPr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1pPr>
    <a:lvl2pPr marL="4572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2pPr>
    <a:lvl3pPr marL="9144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3pPr>
    <a:lvl4pPr marL="13716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4pPr>
    <a:lvl5pPr marL="18288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5pPr>
    <a:lvl6pPr marL="22860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6pPr>
    <a:lvl7pPr marL="27432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7pPr>
    <a:lvl8pPr marL="32004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8pPr>
    <a:lvl9pPr marL="36576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55" d="100"/>
          <a:sy n="155" d="100"/>
        </p:scale>
        <p:origin x="-2040" y="-2000"/>
      </p:cViewPr>
      <p:guideLst>
        <p:guide pos="162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98C8C3-A912-5BAF-C510-1350369CE6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F64C6F-5FAD-78C8-673E-CE2C47F374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CD4A44-994F-A930-3C3B-CF389B6C2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C4ADC-7E84-BC30-AC57-74D9A62D86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46A3B9-AED9-31EF-23BA-087E5ED191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866B3F-AB0F-B48A-D110-B64DBB974A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C7E35-A03A-8B2E-A9BB-E70D8B958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83DAB9-263E-99C2-3148-D85E976475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0BC1F9-FEF1-FA24-DFEC-C66E3F61FA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68C8CC-28AA-B9D6-78BE-E7EA431A47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73619F-E72A-BF2D-3C49-70FCC9A7EC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806382" name="Title 1"/>
          <p:cNvSpPr>
            <a:spLocks noGrp="1"/>
          </p:cNvSpPr>
          <p:nvPr>
            <p:ph type="ctrTitle"/>
          </p:nvPr>
        </p:nvSpPr>
        <p:spPr bwMode="auto">
          <a:xfrm>
            <a:off x="685800" y="1597820"/>
            <a:ext cx="7772400" cy="1102519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795213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052426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D480A359-2FB3-4847-9D97-3491754AA7F9}" type="datetimeFigureOut">
              <a:rPr lang="en-US"/>
              <a:t>4/9/15</a:t>
            </a:fld>
            <a:endParaRPr lang="en-US"/>
          </a:p>
        </p:txBody>
      </p:sp>
      <p:sp>
        <p:nvSpPr>
          <p:cNvPr id="76125993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454742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02622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072119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487013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D128603A-2399-D64A-8203-C8F297F981E8}" type="datetimeFigureOut">
              <a:rPr lang="en-US"/>
              <a:t>4/9/15</a:t>
            </a:fld>
            <a:endParaRPr lang="en-US"/>
          </a:p>
        </p:txBody>
      </p:sp>
      <p:sp>
        <p:nvSpPr>
          <p:cNvPr id="8413970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928337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35991" name="Title 1"/>
          <p:cNvSpPr>
            <a:spLocks noGrp="1"/>
          </p:cNvSpPr>
          <p:nvPr>
            <p:ph type="title"/>
          </p:nvPr>
        </p:nvSpPr>
        <p:spPr bwMode="auto">
          <a:xfrm>
            <a:off x="722313" y="1035563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25774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823251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5CF71F39-3D09-F149-B1A1-DC2A7DB4A435}" type="datetimeFigureOut">
              <a:rPr lang="en-US"/>
              <a:t>4/9/15</a:t>
            </a:fld>
            <a:endParaRPr lang="en-US"/>
          </a:p>
        </p:txBody>
      </p:sp>
      <p:sp>
        <p:nvSpPr>
          <p:cNvPr id="6813760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466022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7807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23356189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9"/>
            <a:ext cx="4038599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6564243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9" y="1258489"/>
            <a:ext cx="4038599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37020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17E7E973-E761-9943-801C-DE1E51E28431}" type="datetimeFigureOut">
              <a:rPr lang="en-US"/>
              <a:t>4/9/15</a:t>
            </a:fld>
            <a:endParaRPr lang="en-US"/>
          </a:p>
        </p:txBody>
      </p:sp>
      <p:sp>
        <p:nvSpPr>
          <p:cNvPr id="18038884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84827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877732" name="Title 1"/>
          <p:cNvSpPr>
            <a:spLocks noGrp="1"/>
          </p:cNvSpPr>
          <p:nvPr>
            <p:ph type="title"/>
          </p:nvPr>
        </p:nvSpPr>
        <p:spPr bwMode="auto">
          <a:xfrm>
            <a:off x="457202" y="457429"/>
            <a:ext cx="8229600" cy="80129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786320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57200" y="1258719"/>
            <a:ext cx="4040187" cy="333590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6380564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4645027" y="1258719"/>
            <a:ext cx="4041774" cy="333590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93841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18ACE534-2B3A-FA4B-B87A-8AC244117610}" type="datetimeFigureOut">
              <a:rPr lang="en-US"/>
              <a:t>4/9/15</a:t>
            </a:fld>
            <a:endParaRPr lang="en-US"/>
          </a:p>
        </p:txBody>
      </p:sp>
      <p:sp>
        <p:nvSpPr>
          <p:cNvPr id="16350306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467192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7196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60631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22CDFFB5-C0BC-DE4D-9A38-E0EE75FC9E15}" type="datetimeFigureOut">
              <a:rPr lang="en-US"/>
              <a:t>4/9/15</a:t>
            </a:fld>
            <a:endParaRPr lang="en-US"/>
          </a:p>
        </p:txBody>
      </p:sp>
      <p:sp>
        <p:nvSpPr>
          <p:cNvPr id="4154277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9272074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0466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F42570F-F7E3-1F40-B6F3-59FE945D5A70}" type="datetimeFigureOut">
              <a:rPr lang="en-US"/>
              <a:t>4/9/15</a:t>
            </a:fld>
            <a:endParaRPr lang="en-US"/>
          </a:p>
        </p:txBody>
      </p:sp>
      <p:sp>
        <p:nvSpPr>
          <p:cNvPr id="20805498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27388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73214" name="Title 1"/>
          <p:cNvSpPr>
            <a:spLocks noGrp="1"/>
          </p:cNvSpPr>
          <p:nvPr>
            <p:ph type="title"/>
          </p:nvPr>
        </p:nvSpPr>
        <p:spPr bwMode="auto"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96367517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66822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683119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6371E9B0-C3DF-544F-BB14-A487ECCC7F43}" type="datetimeFigureOut">
              <a:rPr lang="en-US"/>
              <a:t>4/9/15</a:t>
            </a:fld>
            <a:endParaRPr lang="en-US"/>
          </a:p>
        </p:txBody>
      </p:sp>
      <p:sp>
        <p:nvSpPr>
          <p:cNvPr id="12427364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695275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615648" name="Title 1"/>
          <p:cNvSpPr>
            <a:spLocks noGrp="1"/>
          </p:cNvSpPr>
          <p:nvPr>
            <p:ph type="title"/>
          </p:nvPr>
        </p:nvSpPr>
        <p:spPr bwMode="auto"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314164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43080765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142588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5C4B1CF-5E0C-5D41-A3E2-D78942339385}" type="datetimeFigureOut">
              <a:rPr lang="en-US"/>
              <a:t>4/9/15</a:t>
            </a:fld>
            <a:endParaRPr lang="en-US"/>
          </a:p>
        </p:txBody>
      </p:sp>
      <p:sp>
        <p:nvSpPr>
          <p:cNvPr id="2588993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347901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9663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61676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591436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73BC5DAC-1A13-D34F-9418-D6257772B49C}" type="datetimeFigureOut">
              <a:rPr lang="en-US"/>
              <a:t>4/9/15</a:t>
            </a:fld>
            <a:endParaRPr lang="en-US"/>
          </a:p>
        </p:txBody>
      </p:sp>
      <p:sp>
        <p:nvSpPr>
          <p:cNvPr id="5460553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132750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67146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05980"/>
            <a:ext cx="2057400" cy="4388644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353097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05980"/>
            <a:ext cx="6019800" cy="4388644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251767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4EC0D93-568E-6D41-8E6D-0963A71A503C}" type="datetimeFigureOut">
              <a:rPr lang="en-US"/>
              <a:t>4/9/15</a:t>
            </a:fld>
            <a:endParaRPr lang="en-US"/>
          </a:p>
        </p:txBody>
      </p:sp>
      <p:sp>
        <p:nvSpPr>
          <p:cNvPr id="118096940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07943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748521" name="Title Placeholder 1"/>
          <p:cNvSpPr>
            <a:spLocks noGrp="1"/>
          </p:cNvSpPr>
          <p:nvPr>
            <p:ph type="title"/>
          </p:nvPr>
        </p:nvSpPr>
        <p:spPr bwMode="auto">
          <a:xfrm>
            <a:off x="457199" y="457200"/>
            <a:ext cx="8229600" cy="80129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Headline Line One</a:t>
            </a:r>
            <a:br>
              <a:rPr lang="en-US"/>
            </a:br>
            <a:r>
              <a:rPr lang="en-US"/>
              <a:t>Headline Line Two</a:t>
            </a:r>
            <a:endParaRPr/>
          </a:p>
        </p:txBody>
      </p:sp>
      <p:sp>
        <p:nvSpPr>
          <p:cNvPr id="83024973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457199" y="1258489"/>
            <a:ext cx="8229600" cy="333613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963598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</a:lstStyle>
          <a:p>
            <a:pPr>
              <a:defRPr/>
            </a:pPr>
            <a:fld id="{C944504B-B211-B34D-97AF-78446C71FCDD}" type="datetimeFigureOut">
              <a:rPr lang="en-US"/>
              <a:t>4/9/15</a:t>
            </a:fld>
            <a:endParaRPr lang="en-US"/>
          </a:p>
        </p:txBody>
      </p:sp>
      <p:sp>
        <p:nvSpPr>
          <p:cNvPr id="192574868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9058493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t>‹#›</a:t>
            </a:fld>
            <a:endParaRPr lang="en-US"/>
          </a:p>
        </p:txBody>
      </p:sp>
      <p:pic>
        <p:nvPicPr>
          <p:cNvPr id="1877223711" name="Picture 7"/>
          <p:cNvPicPr>
            <a:picLocks noChangeAspect="1"/>
          </p:cNvPicPr>
          <p:nvPr userDrawn="1"/>
        </p:nvPicPr>
        <p:blipFill rotWithShape="1">
          <a:blip r:embed="rId13"/>
          <a:stretch/>
        </p:blipFill>
        <p:spPr bwMode="auto">
          <a:xfrm>
            <a:off x="1" y="0"/>
            <a:ext cx="9152194" cy="4572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  <a:cs typeface="Arial"/>
        </a:defRPr>
      </a:lvl1pPr>
      <a:lvl2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2pPr>
      <a:lvl3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3pPr>
      <a:lvl4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4pPr>
      <a:lvl5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5pPr>
      <a:lvl6pPr marL="4572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6pPr>
      <a:lvl7pPr marL="9144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7pPr>
      <a:lvl8pPr marL="13716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8pPr>
      <a:lvl9pPr marL="18288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9pPr>
    </p:titleStyle>
    <p:bodyStyle>
      <a:lvl1pPr marL="342900" indent="-342900" algn="l" defTabSz="457200" rtl="0">
        <a:spcBef>
          <a:spcPts val="0"/>
        </a:spcBef>
        <a:spcAft>
          <a:spcPts val="0"/>
        </a:spcAft>
        <a:buFont typeface="Arial"/>
        <a:buChar char="•"/>
        <a:defRPr sz="2400">
          <a:solidFill>
            <a:schemeClr val="tx1"/>
          </a:solidFill>
          <a:latin typeface="Arial"/>
          <a:ea typeface="ＭＳ Ｐゴシック"/>
          <a:cs typeface="Arial"/>
        </a:defRPr>
      </a:lvl1pPr>
      <a:lvl2pPr marL="742950" indent="-285750" algn="l" defTabSz="457200" rtl="0">
        <a:spcBef>
          <a:spcPts val="0"/>
        </a:spcBef>
        <a:spcAft>
          <a:spcPts val="0"/>
        </a:spcAft>
        <a:buFont typeface="Arial"/>
        <a:buChar char="–"/>
        <a:defRPr sz="2400">
          <a:solidFill>
            <a:schemeClr val="tx1"/>
          </a:solidFill>
          <a:latin typeface="Arial"/>
          <a:ea typeface="ＭＳ Ｐゴシック"/>
          <a:cs typeface="Arial"/>
        </a:defRPr>
      </a:lvl2pPr>
      <a:lvl3pPr marL="1143000" indent="-228600" algn="l" defTabSz="457200" rtl="0">
        <a:spcBef>
          <a:spcPts val="0"/>
        </a:spcBef>
        <a:spcAft>
          <a:spcPts val="0"/>
        </a:spcAft>
        <a:buFont typeface="Arial"/>
        <a:buChar char="•"/>
        <a:defRPr>
          <a:solidFill>
            <a:schemeClr val="tx1"/>
          </a:solidFill>
          <a:latin typeface="Arial"/>
          <a:ea typeface="ＭＳ Ｐゴシック"/>
          <a:cs typeface="Arial"/>
        </a:defRPr>
      </a:lvl3pPr>
      <a:lvl4pPr marL="1600200" indent="-228600" algn="l" defTabSz="457200" rtl="0">
        <a:spcBef>
          <a:spcPts val="0"/>
        </a:spcBef>
        <a:spcAft>
          <a:spcPts val="0"/>
        </a:spcAft>
        <a:buFont typeface="Arial"/>
        <a:buChar char="–"/>
        <a:defRPr sz="1400">
          <a:solidFill>
            <a:schemeClr val="tx1"/>
          </a:solidFill>
          <a:latin typeface="Arial"/>
          <a:ea typeface="ＭＳ Ｐゴシック"/>
          <a:cs typeface="Arial"/>
        </a:defRPr>
      </a:lvl4pPr>
      <a:lvl5pPr marL="2057400" indent="-228600" algn="l" defTabSz="457200" rtl="0">
        <a:spcBef>
          <a:spcPts val="0"/>
        </a:spcBef>
        <a:spcAft>
          <a:spcPts val="0"/>
        </a:spcAft>
        <a:buFont typeface="Arial"/>
        <a:buChar char="»"/>
        <a:defRPr sz="1000">
          <a:solidFill>
            <a:schemeClr val="tx1"/>
          </a:solidFill>
          <a:latin typeface="Arial"/>
          <a:ea typeface="ＭＳ Ｐゴシック"/>
          <a:cs typeface="Arial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97822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latin typeface="Arial"/>
              </a:rPr>
              <a:t>SciantixML</a:t>
            </a:r>
            <a:endParaRPr lang="en-US">
              <a:latin typeface="Arial"/>
            </a:endParaRPr>
          </a:p>
        </p:txBody>
      </p:sp>
      <p:sp>
        <p:nvSpPr>
          <p:cNvPr id="1548725202" name="Subtitle 2"/>
          <p:cNvSpPr>
            <a:spLocks noGrp="1"/>
          </p:cNvSpPr>
          <p:nvPr>
            <p:ph type="subTitle" idx="1"/>
          </p:nvPr>
        </p:nvSpPr>
        <p:spPr bwMode="auto"/>
        <p:txBody>
          <a:bodyPr rtlCol="0">
            <a:normAutofit/>
          </a:bodyPr>
          <a:lstStyle/>
          <a:p>
            <a:pPr>
              <a:spcAft>
                <a:spcPts val="0"/>
              </a:spcAft>
              <a:buFont typeface="Arial"/>
              <a:buNone/>
              <a:defRPr/>
            </a:pPr>
            <a:r>
              <a:rPr lang="en-US">
                <a:ea typeface="+mn-ea"/>
              </a:rPr>
              <a:t>Fletcher Smith</a:t>
            </a:r>
            <a:endParaRPr lang="en-US">
              <a:ea typeface="Arial"/>
            </a:endParaRPr>
          </a:p>
          <a:p>
            <a:pPr>
              <a:spcAft>
                <a:spcPts val="0"/>
              </a:spcAft>
              <a:buFont typeface="Arial"/>
              <a:buNone/>
              <a:defRPr/>
            </a:pPr>
            <a:r>
              <a:rPr lang="en-US">
                <a:ea typeface="Arial"/>
              </a:rPr>
              <a:t>February 20, 2026</a:t>
            </a:r>
            <a:endParaRPr lang="en-US">
              <a:ea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34058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Outline</a:t>
            </a:r>
            <a:endParaRPr/>
          </a:p>
        </p:txBody>
      </p:sp>
      <p:sp>
        <p:nvSpPr>
          <p:cNvPr id="214674700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Neural Networks</a:t>
            </a:r>
            <a:endParaRPr/>
          </a:p>
          <a:p>
            <a:pPr lvl="1">
              <a:defRPr/>
            </a:pPr>
            <a:r>
              <a:rPr/>
              <a:t>Perceptron</a:t>
            </a:r>
            <a:endParaRPr/>
          </a:p>
          <a:p>
            <a:pPr lvl="1">
              <a:defRPr/>
            </a:pPr>
            <a:r>
              <a:rPr/>
              <a:t>Multi-Layer Perceptron</a:t>
            </a:r>
            <a:endParaRPr/>
          </a:p>
          <a:p>
            <a:pPr lvl="1">
              <a:defRPr/>
            </a:pPr>
            <a:r>
              <a:rPr/>
              <a:t>Recursive Neural Networks (RNNs)</a:t>
            </a:r>
            <a:endParaRPr/>
          </a:p>
          <a:p>
            <a:pPr lvl="1">
              <a:defRPr/>
            </a:pPr>
            <a:r>
              <a:rPr/>
              <a:t>NeuralODE</a:t>
            </a:r>
            <a:endParaRPr/>
          </a:p>
          <a:p>
            <a:pPr lvl="0">
              <a:defRPr/>
            </a:pPr>
            <a:r>
              <a:rPr/>
              <a:t>Gathering 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301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Neural Networks</a:t>
            </a:r>
            <a:endParaRPr/>
          </a:p>
        </p:txBody>
      </p:sp>
      <p:sp>
        <p:nvSpPr>
          <p:cNvPr id="2707258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2082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</a:t>
            </a:r>
            <a:endParaRPr/>
          </a:p>
        </p:txBody>
      </p:sp>
      <p:sp>
        <p:nvSpPr>
          <p:cNvPr id="152505239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144649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  <p:sp>
        <p:nvSpPr>
          <p:cNvPr id="3172080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2762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 Predictions</a:t>
            </a:r>
            <a:endParaRPr/>
          </a:p>
        </p:txBody>
      </p:sp>
      <p:sp>
        <p:nvSpPr>
          <p:cNvPr id="208633043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0614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Multi-Layer Perceptron (MLP)</a:t>
            </a:r>
            <a:endParaRPr/>
          </a:p>
        </p:txBody>
      </p:sp>
      <p:sp>
        <p:nvSpPr>
          <p:cNvPr id="184653239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15948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Backpropagation</a:t>
            </a:r>
            <a:endParaRPr/>
          </a:p>
        </p:txBody>
      </p:sp>
      <p:sp>
        <p:nvSpPr>
          <p:cNvPr id="94666360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088877" name="Title 1"/>
          <p:cNvSpPr>
            <a:spLocks noGrp="1"/>
          </p:cNvSpPr>
          <p:nvPr>
            <p:ph type="title"/>
          </p:nvPr>
        </p:nvSpPr>
        <p:spPr bwMode="auto">
          <a:xfrm>
            <a:off x="722313" y="1035562"/>
            <a:ext cx="7772400" cy="1021555"/>
          </a:xfrm>
        </p:spPr>
        <p:txBody>
          <a:bodyPr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Gathering data</a:t>
            </a:r>
            <a:endParaRPr/>
          </a:p>
        </p:txBody>
      </p:sp>
      <p:sp>
        <p:nvSpPr>
          <p:cNvPr id="7773911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5908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Determining Variables</a:t>
            </a:r>
            <a:endParaRPr/>
          </a:p>
        </p:txBody>
      </p:sp>
      <p:sp>
        <p:nvSpPr>
          <p:cNvPr id="172421841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input_history.txt</a:t>
            </a:r>
            <a:endParaRPr/>
          </a:p>
          <a:p>
            <a:pPr lvl="1">
              <a:defRPr/>
            </a:pPr>
            <a:r>
              <a:rPr/>
              <a:t>time (hr)</a:t>
            </a:r>
            <a:endParaRPr/>
          </a:p>
          <a:p>
            <a:pPr lvl="1">
              <a:defRPr/>
            </a:pPr>
            <a:r>
              <a:rPr/>
              <a:t>Temperature (K)</a:t>
            </a:r>
            <a:endParaRPr/>
          </a:p>
          <a:p>
            <a:pPr lvl="1">
              <a:defRPr/>
            </a:pPr>
            <a:r>
              <a:rPr/>
              <a:t>Fission Rate (fissions/m^3*s)</a:t>
            </a:r>
            <a:endParaRPr/>
          </a:p>
          <a:p>
            <a:pPr lvl="1">
              <a:defRPr/>
            </a:pPr>
            <a:r>
              <a:rPr/>
              <a:t>Hydrostatic Stress (MPa)</a:t>
            </a:r>
            <a:endParaRPr/>
          </a:p>
          <a:p>
            <a:pPr lvl="0">
              <a:defRPr/>
            </a:pPr>
            <a:r>
              <a:rPr/>
              <a:t>Code linearly interpolates between entries</a:t>
            </a:r>
            <a:endParaRPr/>
          </a:p>
        </p:txBody>
      </p:sp>
      <p:pic>
        <p:nvPicPr>
          <p:cNvPr id="95999443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58167" y="3757782"/>
            <a:ext cx="3028950" cy="7143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53088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</a:t>
            </a:r>
            <a:endParaRPr/>
          </a:p>
        </p:txBody>
      </p:sp>
      <p:sp>
        <p:nvSpPr>
          <p:cNvPr id="57647213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PWRs refuel every 18 months</a:t>
            </a:r>
            <a:endParaRPr/>
          </a:p>
          <a:p>
            <a:pPr>
              <a:defRPr/>
            </a:pPr>
            <a:r>
              <a:rPr/>
              <a:t>BWRs refuel every 24 months</a:t>
            </a:r>
            <a:endParaRPr/>
          </a:p>
          <a:p>
            <a:pPr>
              <a:defRPr/>
            </a:pPr>
            <a:r>
              <a:rPr/>
              <a:t>One-third of the fuel is shuffled every fuel cycle</a:t>
            </a:r>
            <a:endParaRPr/>
          </a:p>
          <a:p>
            <a:pPr>
              <a:defRPr/>
            </a:pPr>
            <a:r>
              <a:rPr/>
              <a:t>Average capacity factor is 92.7%</a:t>
            </a:r>
            <a:r>
              <a:rPr baseline="30000"/>
              <a:t>1</a:t>
            </a:r>
            <a:endParaRPr/>
          </a:p>
        </p:txBody>
      </p:sp>
      <p:sp>
        <p:nvSpPr>
          <p:cNvPr id="1762275040" name=""/>
          <p:cNvSpPr txBox="1"/>
          <p:nvPr/>
        </p:nvSpPr>
        <p:spPr bwMode="auto">
          <a:xfrm rot="0" flipH="0" flipV="0">
            <a:off x="457199" y="4594621"/>
            <a:ext cx="823031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900" u="none">
                <a:solidFill>
                  <a:schemeClr val="tx1"/>
                </a:solidFill>
              </a:rPr>
              <a:t>Source: 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https://www.nei.org/resources/statistics/us-nuclear-operating-plant-basic-information</a:t>
            </a:r>
            <a:r>
              <a:rPr sz="1000" u="none">
                <a:solidFill>
                  <a:schemeClr val="tx1"/>
                </a:solidFill>
              </a:rPr>
              <a:t> </a:t>
            </a:r>
            <a:r>
              <a:rPr sz="900" u="none">
                <a:solidFill>
                  <a:schemeClr val="tx1"/>
                </a:solidFill>
              </a:rPr>
              <a:t>Received data from U.S. Energy Information Administration, updated July 2023</a:t>
            </a:r>
            <a:endParaRPr sz="900" u="none">
              <a:solidFill>
                <a:schemeClr val="tx1"/>
              </a:solidFill>
            </a:endParaRPr>
          </a:p>
        </p:txBody>
      </p:sp>
      <p:sp>
        <p:nvSpPr>
          <p:cNvPr id="441723663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9" y="1258489"/>
            <a:ext cx="4038599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Operating Hours=3 cycles⋅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24 months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cycle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30 days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month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24 hours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day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⋅92.7% capacity factor=48,056 hours≈50,000 hours</m:t>
                      </m:r>
                    </m:oMath>
                  </m:oMathPara>
                </a14:m>
              </mc:Choice>
              <mc:Fallback/>
            </mc:AlternateContent>
            <a:endParaRPr lang="en-US" sz="24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1304532238" name=""/>
          <p:cNvSpPr/>
          <p:nvPr/>
        </p:nvSpPr>
        <p:spPr bwMode="auto">
          <a:xfrm>
            <a:off x="4480362" y="2388690"/>
            <a:ext cx="183636" cy="36611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endParaRPr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ONLYOFFICE/9.2.0.100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NC State University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B Dearmon</dc:creator>
  <cp:lastModifiedBy/>
  <cp:revision>4</cp:revision>
  <dcterms:created xsi:type="dcterms:W3CDTF">2014-04-10T19:16:28Z</dcterms:created>
  <dcterms:modified xsi:type="dcterms:W3CDTF">2026-02-10T22:30:21Z</dcterms:modified>
</cp:coreProperties>
</file>