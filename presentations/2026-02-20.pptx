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23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3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notesSlides/notesSlide22.xml" ContentType="application/vnd.openxmlformats-officedocument.presentationml.notesSlide+xml"/>
  <Override PartName="/ppt/slideLayouts/slideLayout4.xml" ContentType="application/vnd.openxmlformats-officedocument.presentationml.slideLayout+xml"/>
  <Override PartName="/ppt/notesSlides/notesSlide20.xml" ContentType="application/vnd.openxmlformats-officedocument.presentationml.notesSlide+xml"/>
  <Override PartName="/ppt/notesSlides/notesSlide10.xml" ContentType="application/vnd.openxmlformats-officedocument.presentationml.notesSlide+xml"/>
  <Override PartName="/ppt/slides/slide21.xml" ContentType="application/vnd.openxmlformats-officedocument.presentationml.slide+xml"/>
  <Override PartName="/ppt/slideLayouts/slideLayout1.xml" ContentType="application/vnd.openxmlformats-officedocument.presentationml.slideLayout+xml"/>
  <Override PartName="/ppt/slides/slide12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7.xml" ContentType="application/vnd.openxmlformats-officedocument.presentationml.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slides/slide17.xml" ContentType="application/vnd.openxmlformats-officedocument.presentationml.slide+xml"/>
  <Override PartName="/ppt/viewProps.xml" ContentType="application/vnd.openxmlformats-officedocument.presentationml.viewProps+xml"/>
  <Override PartName="/ppt/notesSlides/notesSlide7.xml" ContentType="application/vnd.openxmlformats-officedocument.presentationml.notesSlide+xml"/>
  <Override PartName="/ppt/presentation.xml" ContentType="application/vnd.openxmlformats-officedocument.presentationml.template.main+xml"/>
  <Override PartName="/ppt/slides/slide8.xml" ContentType="application/vnd.openxmlformats-officedocument.presentationml.slide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8.xml" ContentType="application/vnd.openxmlformats-officedocument.presentationml.slideLayout+xml"/>
  <Override PartName="/docProps/core.xml" ContentType="application/vnd.openxmlformats-package.core-properties+xml"/>
  <Override PartName="/ppt/slideLayouts/slideLayout6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s/slide20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4.xml" ContentType="application/vnd.openxmlformats-officedocument.presentationml.slide+xml"/>
  <Override PartName="/ppt/slideLayouts/slideLayout7.xml" ContentType="application/vnd.openxmlformats-officedocument.presentationml.slideLayout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22.xml" ContentType="application/vnd.openxmlformats-officedocument.presentationml.slide+xml"/>
  <Override PartName="/ppt/slides/slide19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27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</p:sldIdLst>
  <p:sldSz cx="9144000" cy="5143500" type="screen16x9"/>
  <p:notesSz cx="6858000" cy="9144000"/>
  <p:defaultTextStyle>
    <a:defPPr>
      <a:defRPr lang="en-US"/>
    </a:defPPr>
    <a:lvl1pPr algn="l" defTabSz="457200" rtl="0">
      <a:spcBef>
        <a:spcPts val="0"/>
      </a:spcBef>
      <a:spcAft>
        <a:spcPts val="0"/>
      </a:spcAft>
      <a:defRPr>
        <a:solidFill>
          <a:schemeClr val="tx1"/>
        </a:solidFill>
        <a:latin typeface="Calibri"/>
        <a:ea typeface="ＭＳ Ｐゴシック"/>
        <a:cs typeface="ＭＳ Ｐゴシック"/>
      </a:defRPr>
    </a:lvl1pPr>
    <a:lvl2pPr marL="457200" algn="l" defTabSz="457200" rtl="0">
      <a:spcBef>
        <a:spcPts val="0"/>
      </a:spcBef>
      <a:spcAft>
        <a:spcPts val="0"/>
      </a:spcAft>
      <a:defRPr>
        <a:solidFill>
          <a:schemeClr val="tx1"/>
        </a:solidFill>
        <a:latin typeface="Calibri"/>
        <a:ea typeface="ＭＳ Ｐゴシック"/>
        <a:cs typeface="ＭＳ Ｐゴシック"/>
      </a:defRPr>
    </a:lvl2pPr>
    <a:lvl3pPr marL="914400" algn="l" defTabSz="457200" rtl="0">
      <a:spcBef>
        <a:spcPts val="0"/>
      </a:spcBef>
      <a:spcAft>
        <a:spcPts val="0"/>
      </a:spcAft>
      <a:defRPr>
        <a:solidFill>
          <a:schemeClr val="tx1"/>
        </a:solidFill>
        <a:latin typeface="Calibri"/>
        <a:ea typeface="ＭＳ Ｐゴシック"/>
        <a:cs typeface="ＭＳ Ｐゴシック"/>
      </a:defRPr>
    </a:lvl3pPr>
    <a:lvl4pPr marL="1371600" algn="l" defTabSz="457200" rtl="0">
      <a:spcBef>
        <a:spcPts val="0"/>
      </a:spcBef>
      <a:spcAft>
        <a:spcPts val="0"/>
      </a:spcAft>
      <a:defRPr>
        <a:solidFill>
          <a:schemeClr val="tx1"/>
        </a:solidFill>
        <a:latin typeface="Calibri"/>
        <a:ea typeface="ＭＳ Ｐゴシック"/>
        <a:cs typeface="ＭＳ Ｐゴシック"/>
      </a:defRPr>
    </a:lvl4pPr>
    <a:lvl5pPr marL="1828800" algn="l" defTabSz="457200" rtl="0">
      <a:spcBef>
        <a:spcPts val="0"/>
      </a:spcBef>
      <a:spcAft>
        <a:spcPts val="0"/>
      </a:spcAft>
      <a:defRPr>
        <a:solidFill>
          <a:schemeClr val="tx1"/>
        </a:solidFill>
        <a:latin typeface="Calibri"/>
        <a:ea typeface="ＭＳ Ｐゴシック"/>
        <a:cs typeface="ＭＳ Ｐゴシック"/>
      </a:defRPr>
    </a:lvl5pPr>
    <a:lvl6pPr marL="2286000" algn="l" defTabSz="457200" rtl="0">
      <a:defRPr>
        <a:solidFill>
          <a:schemeClr val="tx1"/>
        </a:solidFill>
        <a:latin typeface="Calibri"/>
        <a:ea typeface="ＭＳ Ｐゴシック"/>
        <a:cs typeface="ＭＳ Ｐゴシック"/>
      </a:defRPr>
    </a:lvl6pPr>
    <a:lvl7pPr marL="2743200" algn="l" defTabSz="457200" rtl="0">
      <a:defRPr>
        <a:solidFill>
          <a:schemeClr val="tx1"/>
        </a:solidFill>
        <a:latin typeface="Calibri"/>
        <a:ea typeface="ＭＳ Ｐゴシック"/>
        <a:cs typeface="ＭＳ Ｐゴシック"/>
      </a:defRPr>
    </a:lvl7pPr>
    <a:lvl8pPr marL="3200400" algn="l" defTabSz="457200" rtl="0">
      <a:defRPr>
        <a:solidFill>
          <a:schemeClr val="tx1"/>
        </a:solidFill>
        <a:latin typeface="Calibri"/>
        <a:ea typeface="ＭＳ Ｐゴシック"/>
        <a:cs typeface="ＭＳ Ｐゴシック"/>
      </a:defRPr>
    </a:lvl8pPr>
    <a:lvl9pPr marL="3657600" algn="l" defTabSz="457200" rtl="0">
      <a:defRPr>
        <a:solidFill>
          <a:schemeClr val="tx1"/>
        </a:solidFill>
        <a:latin typeface="Calibri"/>
        <a:ea typeface="ＭＳ Ｐゴシック"/>
        <a:cs typeface="ＭＳ Ｐゴシック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940675A-B579-460E-94D1-54222C63F5DA}">
  <a:tblStyle styleId="{5940675A-B579-460E-94D1-54222C63F5DA}" styleName="No Style, Table Grid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dk1"/>
              </a:solidFill>
            </a:ln>
          </a:left>
          <a:right>
            <a:ln w="12700">
              <a:solidFill>
                <a:schemeClr val="dk1"/>
              </a:solidFill>
            </a:ln>
          </a:right>
          <a:top>
            <a:ln w="12700">
              <a:solidFill>
                <a:schemeClr val="dk1"/>
              </a:solidFill>
            </a:ln>
          </a:top>
          <a:bottom>
            <a:ln w="12700">
              <a:solidFill>
                <a:schemeClr val="dk1"/>
              </a:solidFill>
            </a:ln>
          </a:bottom>
          <a:insideH>
            <a:ln w="12700">
              <a:solidFill>
                <a:schemeClr val="dk1"/>
              </a:solidFill>
            </a:ln>
          </a:insideH>
          <a:insideV>
            <a:ln w="12700">
              <a:solidFill>
                <a:schemeClr val="dk1"/>
              </a:solidFill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lt1"/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lt1"/>
          </a:solidFill>
        </a:fill>
      </a:tcStyle>
    </a:band1V>
    <a:band2V>
      <a:tcStyle>
        <a:tcBdr/>
        <a:fill>
          <a:solidFill>
            <a:schemeClr val="lt1"/>
          </a:solidFill>
        </a:fill>
      </a:tcStyle>
    </a:band2V>
    <a:lastCol>
      <a:tcTxStyle b="on">
        <a:fontRef idx="minor">
          <a:prstClr val="black"/>
        </a:fontRef>
        <a:schemeClr val="dk1"/>
      </a:tcTxStyle>
      <a:tcStyle>
        <a:tcBdr/>
        <a:fill>
          <a:solidFill>
            <a:schemeClr val="lt1"/>
          </a:solidFill>
        </a:fill>
      </a:tcStyle>
    </a:lastCol>
    <a:firstCol>
      <a:tcTxStyle b="on">
        <a:fontRef idx="minor">
          <a:prstClr val="black"/>
        </a:fontRef>
        <a:schemeClr val="dk1"/>
      </a:tcTxStyle>
      <a:tcStyle>
        <a:tcBdr/>
        <a:fill>
          <a:solidFill>
            <a:schemeClr val="lt1"/>
          </a:solidFill>
        </a:fill>
      </a:tcStyle>
    </a:firstCol>
    <a:lastRow>
      <a:tcTxStyle b="on">
        <a:fontRef idx="minor">
          <a:prstClr val="black"/>
        </a:fontRef>
        <a:schemeClr val="dk1"/>
      </a:tcTxStyle>
      <a:tcStyle>
        <a:tcBdr>
          <a:top>
            <a:ln w="12700">
              <a:solidFill>
                <a:schemeClr val="lt1"/>
              </a:solidFill>
            </a:ln>
          </a:top>
        </a:tcBdr>
        <a:fill>
          <a:solidFill>
            <a:schemeClr val="l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dk1"/>
      </a:tcTxStyle>
      <a:tcStyle>
        <a:tcBdr>
          <a:bottom>
            <a:ln w="12700">
              <a:solidFill>
                <a:schemeClr val="dk1"/>
              </a:solidFill>
            </a:ln>
          </a:bottom>
        </a:tcBdr>
        <a:fill>
          <a:solidFill>
            <a:schemeClr val="l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55" d="100"/>
          <a:sy n="155" d="100"/>
        </p:scale>
        <p:origin x="-2040" y="-2000"/>
      </p:cViewPr>
      <p:guideLst>
        <p:guide pos="1620" orient="horz"/>
        <p:guide pos="2880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 /><Relationship Id="rId29" Type="http://schemas.openxmlformats.org/officeDocument/2006/relationships/tableStyles" Target="tableStyles.xml" /><Relationship Id="rId30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907957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20444872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601286796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709438061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828496941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281025029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 ?>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33749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611679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25616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98C8C3-A912-5BAF-C510-1350369CE6F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33906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812795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3088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F64C6F-5FAD-78C8-673E-CE2C47F3748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07032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827853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9567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CD4A44-994F-A930-3C3B-CF389B6C2C7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81576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876735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94585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4C1EB2-D51B-5C9A-EBEC-03CD70BC05A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8329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436143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13925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54C4ADC-7E84-BC30-AC57-74D9A62D86A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30710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342462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3315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70C77A-2499-3C36-AEE8-C99B5A13C58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51950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929380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8082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CA4E17-9930-C42F-CD46-C438382D3FC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871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959124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53343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CAA776-547A-C487-DCB1-5DC13FCB480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54103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387695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38726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48E965D-D029-9720-457F-3B28EDFCA75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94369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353225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47920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546A3B9-AED9-31EF-23BA-087E5ED1915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535352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950569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73274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E78E46-55EB-BDFF-65AA-F223B45C198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99356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84766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93480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4E2E4A4-6EE3-EDC4-697C-409B364D4C5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53234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627724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20120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DC9244-9F0E-DF3A-734E-5FA8A792ED5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10283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995432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13962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866B3F-AB0F-B48A-D110-B64DBB974AC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319FC7-B2F0-C779-CB28-681B3598883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D1C831F-5362-E660-8933-CCF7D53F05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118258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554115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01044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C7E35-A03A-8B2E-A9BB-E70D8B95868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63235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344490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49045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C3723D-1BE3-26CD-799B-A4B604D7ECF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1549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74119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23441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F13005-4EBF-EBCC-59F0-698E62E32F9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25361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4181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4895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83DAB9-263E-99C2-3148-D85E9764752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222976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122058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405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0BC1F9-FEF1-FA24-DFEC-C66E3F61FA2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48911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31716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58449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68C8CC-28AA-B9D6-78BE-E7EA431A471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88496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316693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17838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73619F-E72A-BF2D-3C49-70FCC9A7ECB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1254341" name="Title 1"/>
          <p:cNvSpPr>
            <a:spLocks noGrp="1"/>
          </p:cNvSpPr>
          <p:nvPr>
            <p:ph type="ctrTitle"/>
          </p:nvPr>
        </p:nvSpPr>
        <p:spPr bwMode="auto">
          <a:xfrm>
            <a:off x="685800" y="1597820"/>
            <a:ext cx="7772400" cy="1102519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997804607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168733272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D480A359-2FB3-4847-9D97-3491754AA7F9}" type="datetimeFigureOut">
              <a:rPr lang="en-US"/>
              <a:t>4/9/15</a:t>
            </a:fld>
            <a:endParaRPr lang="en-US"/>
          </a:p>
        </p:txBody>
      </p:sp>
      <p:sp>
        <p:nvSpPr>
          <p:cNvPr id="192822874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757372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01E82176-A547-F94B-AC51-D6E9C882CB8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914065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8650287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7219164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D128603A-2399-D64A-8203-C8F297F981E8}" type="datetimeFigureOut">
              <a:rPr lang="en-US"/>
              <a:t>4/9/15</a:t>
            </a:fld>
            <a:endParaRPr lang="en-US"/>
          </a:p>
        </p:txBody>
      </p:sp>
      <p:sp>
        <p:nvSpPr>
          <p:cNvPr id="162629205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14760011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3FF2C605-4958-CF43-AA48-80339EFDB0A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5723444" name="Title 1"/>
          <p:cNvSpPr>
            <a:spLocks noGrp="1"/>
          </p:cNvSpPr>
          <p:nvPr>
            <p:ph type="title"/>
          </p:nvPr>
        </p:nvSpPr>
        <p:spPr bwMode="auto">
          <a:xfrm>
            <a:off x="722313" y="1035563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383736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157660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5CF71F39-3D09-F149-B1A1-DC2A7DB4A435}" type="datetimeFigureOut">
              <a:rPr lang="en-US"/>
              <a:t>4/9/15</a:t>
            </a:fld>
            <a:endParaRPr lang="en-US"/>
          </a:p>
        </p:txBody>
      </p:sp>
      <p:sp>
        <p:nvSpPr>
          <p:cNvPr id="160662131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7134909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0DA6BD0F-ABBC-C14D-BC96-77BE126A748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775522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20027980" name="Content Placeholder 2"/>
          <p:cNvSpPr>
            <a:spLocks noGrp="1"/>
          </p:cNvSpPr>
          <p:nvPr>
            <p:ph sz="half" idx="1"/>
          </p:nvPr>
        </p:nvSpPr>
        <p:spPr bwMode="auto">
          <a:xfrm flipH="0" flipV="0">
            <a:off x="457200" y="1258489"/>
            <a:ext cx="4038598" cy="333613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953177368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4648199" y="1258489"/>
            <a:ext cx="4038598" cy="333613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3623987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17E7E973-E761-9943-801C-DE1E51E28431}" type="datetimeFigureOut">
              <a:rPr lang="en-US"/>
              <a:t>4/9/15</a:t>
            </a:fld>
            <a:endParaRPr lang="en-US"/>
          </a:p>
        </p:txBody>
      </p:sp>
      <p:sp>
        <p:nvSpPr>
          <p:cNvPr id="95140167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5207225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EC35E9FC-F6D5-0349-BBED-EA7D7A9BC49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869650" name="Title 1"/>
          <p:cNvSpPr>
            <a:spLocks noGrp="1"/>
          </p:cNvSpPr>
          <p:nvPr>
            <p:ph type="title"/>
          </p:nvPr>
        </p:nvSpPr>
        <p:spPr bwMode="auto">
          <a:xfrm>
            <a:off x="457202" y="457429"/>
            <a:ext cx="8229600" cy="80129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56984521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457200" y="1258719"/>
            <a:ext cx="4040187" cy="333590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38301188" name="Content Placeholder 5"/>
          <p:cNvSpPr>
            <a:spLocks noGrp="1"/>
          </p:cNvSpPr>
          <p:nvPr>
            <p:ph sz="quarter" idx="4"/>
          </p:nvPr>
        </p:nvSpPr>
        <p:spPr bwMode="auto">
          <a:xfrm flipH="0" flipV="0">
            <a:off x="4645027" y="1258719"/>
            <a:ext cx="4041774" cy="333590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4795273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18ACE534-2B3A-FA4B-B87A-8AC244117610}" type="datetimeFigureOut">
              <a:rPr lang="en-US"/>
              <a:t>4/9/15</a:t>
            </a:fld>
            <a:endParaRPr lang="en-US"/>
          </a:p>
        </p:txBody>
      </p:sp>
      <p:sp>
        <p:nvSpPr>
          <p:cNvPr id="55124961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25075175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BB5B94E0-5E06-6D42-A41D-50D581B4090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273091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3136006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22CDFFB5-C0BC-DE4D-9A38-E0EE75FC9E15}" type="datetimeFigureOut">
              <a:rPr lang="en-US"/>
              <a:t>4/9/15</a:t>
            </a:fld>
            <a:endParaRPr lang="en-US"/>
          </a:p>
        </p:txBody>
      </p:sp>
      <p:sp>
        <p:nvSpPr>
          <p:cNvPr id="12929189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0231862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C2AB7D4D-4E81-5B40-91F6-CF14C25F862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198073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EF42570F-F7E3-1F40-B6F3-59FE945D5A70}" type="datetimeFigureOut">
              <a:rPr lang="en-US"/>
              <a:t>4/9/15</a:t>
            </a:fld>
            <a:endParaRPr lang="en-US"/>
          </a:p>
        </p:txBody>
      </p:sp>
      <p:sp>
        <p:nvSpPr>
          <p:cNvPr id="121074176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7141236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B35B2FA7-4FDB-5643-811E-7991DEE50B0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0154775" name="Title 1"/>
          <p:cNvSpPr>
            <a:spLocks noGrp="1"/>
          </p:cNvSpPr>
          <p:nvPr>
            <p:ph type="title"/>
          </p:nvPr>
        </p:nvSpPr>
        <p:spPr bwMode="auto"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91469693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4029093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4926097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6371E9B0-C3DF-544F-BB14-A487ECCC7F43}" type="datetimeFigureOut">
              <a:rPr lang="en-US"/>
              <a:t>4/9/15</a:t>
            </a:fld>
            <a:endParaRPr lang="en-US"/>
          </a:p>
        </p:txBody>
      </p:sp>
      <p:sp>
        <p:nvSpPr>
          <p:cNvPr id="7000089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9700157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91DD8B14-AE1E-054C-8668-93D0F0400A1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2912090" name="Title 1"/>
          <p:cNvSpPr>
            <a:spLocks noGrp="1"/>
          </p:cNvSpPr>
          <p:nvPr>
            <p:ph type="title"/>
          </p:nvPr>
        </p:nvSpPr>
        <p:spPr bwMode="auto"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56416970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459581"/>
            <a:ext cx="5486400" cy="30861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41137944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9832488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E5C4B1CF-5E0C-5D41-A3E2-D78942339385}" type="datetimeFigureOut">
              <a:rPr lang="en-US"/>
              <a:t>4/9/15</a:t>
            </a:fld>
            <a:endParaRPr lang="en-US"/>
          </a:p>
        </p:txBody>
      </p:sp>
      <p:sp>
        <p:nvSpPr>
          <p:cNvPr id="102713021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1357061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8FEF0004-A563-C64B-9FAD-6198662E1BD1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90893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4884096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6389493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73BC5DAC-1A13-D34F-9418-D6257772B49C}" type="datetimeFigureOut">
              <a:rPr lang="en-US"/>
              <a:t>4/9/15</a:t>
            </a:fld>
            <a:endParaRPr lang="en-US"/>
          </a:p>
        </p:txBody>
      </p:sp>
      <p:sp>
        <p:nvSpPr>
          <p:cNvPr id="132433391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118284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FB9610A8-B29A-B34A-A0B5-3DF26A2EB85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775785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05980"/>
            <a:ext cx="2057400" cy="4388644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12615811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05980"/>
            <a:ext cx="6019800" cy="4388644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4285413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B4EC0D93-568E-6D41-8E6D-0963A71A503C}" type="datetimeFigureOut">
              <a:rPr lang="en-US"/>
              <a:t>4/9/15</a:t>
            </a:fld>
            <a:endParaRPr lang="en-US"/>
          </a:p>
        </p:txBody>
      </p:sp>
      <p:sp>
        <p:nvSpPr>
          <p:cNvPr id="56362016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95266158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fld id="{E12D0221-73D0-6245-9CCD-73A1D8FCB5E4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2680820" name="Title Placeholder 1"/>
          <p:cNvSpPr>
            <a:spLocks noGrp="1"/>
          </p:cNvSpPr>
          <p:nvPr>
            <p:ph type="title"/>
          </p:nvPr>
        </p:nvSpPr>
        <p:spPr bwMode="auto">
          <a:xfrm>
            <a:off x="457199" y="457200"/>
            <a:ext cx="8229600" cy="80129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/>
          </a:bodyPr>
          <a:lstStyle/>
          <a:p>
            <a:pPr lvl="0">
              <a:defRPr/>
            </a:pPr>
            <a:r>
              <a:rPr lang="en-US"/>
              <a:t>Headline Line One</a:t>
            </a:r>
            <a:br>
              <a:rPr lang="en-US"/>
            </a:br>
            <a:r>
              <a:rPr lang="en-US"/>
              <a:t>Headline Line Two</a:t>
            </a:r>
            <a:endParaRPr/>
          </a:p>
        </p:txBody>
      </p:sp>
      <p:sp>
        <p:nvSpPr>
          <p:cNvPr id="2038184077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457199" y="1258489"/>
            <a:ext cx="8229600" cy="333613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8860269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1pPr>
          </a:lstStyle>
          <a:p>
            <a:pPr>
              <a:defRPr/>
            </a:pPr>
            <a:fld id="{C944504B-B211-B34D-97AF-78446C71FCDD}" type="datetimeFigureOut">
              <a:rPr lang="en-US"/>
              <a:t>4/9/15</a:t>
            </a:fld>
            <a:endParaRPr lang="en-US"/>
          </a:p>
        </p:txBody>
      </p:sp>
      <p:sp>
        <p:nvSpPr>
          <p:cNvPr id="9378802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Arial"/>
                <a:ea typeface="+mn-ea"/>
                <a:cs typeface="Arial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267194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fld id="{0EF7D53D-272A-624E-BE3D-99D13E2B4193}" type="slidenum">
              <a:rPr lang="en-US"/>
              <a:t>‹#›</a:t>
            </a:fld>
            <a:endParaRPr lang="en-US"/>
          </a:p>
        </p:txBody>
      </p:sp>
      <p:pic>
        <p:nvPicPr>
          <p:cNvPr id="2043255101" name="Picture 7"/>
          <p:cNvPicPr>
            <a:picLocks noChangeAspect="1"/>
          </p:cNvPicPr>
          <p:nvPr userDrawn="1"/>
        </p:nvPicPr>
        <p:blipFill rotWithShape="1">
          <a:blip r:embed="rId13"/>
          <a:stretch/>
        </p:blipFill>
        <p:spPr bwMode="auto">
          <a:xfrm>
            <a:off x="1" y="0"/>
            <a:ext cx="9152194" cy="4572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>
        <a:spcBef>
          <a:spcPts val="0"/>
        </a:spcBef>
        <a:spcAft>
          <a:spcPts val="0"/>
        </a:spcAft>
        <a:defRPr sz="3200" b="1">
          <a:solidFill>
            <a:schemeClr val="tx1"/>
          </a:solidFill>
          <a:latin typeface="Arial"/>
          <a:ea typeface="ＭＳ Ｐゴシック"/>
          <a:cs typeface="Arial"/>
        </a:defRPr>
      </a:lvl1pPr>
      <a:lvl2pPr algn="ctr" defTabSz="457200" rtl="0">
        <a:spcBef>
          <a:spcPts val="0"/>
        </a:spcBef>
        <a:spcAft>
          <a:spcPts val="0"/>
        </a:spcAft>
        <a:defRPr sz="3200" b="1">
          <a:solidFill>
            <a:schemeClr val="tx1"/>
          </a:solidFill>
          <a:latin typeface="Arial"/>
          <a:ea typeface="ＭＳ Ｐゴシック"/>
        </a:defRPr>
      </a:lvl2pPr>
      <a:lvl3pPr algn="ctr" defTabSz="457200" rtl="0">
        <a:spcBef>
          <a:spcPts val="0"/>
        </a:spcBef>
        <a:spcAft>
          <a:spcPts val="0"/>
        </a:spcAft>
        <a:defRPr sz="3200" b="1">
          <a:solidFill>
            <a:schemeClr val="tx1"/>
          </a:solidFill>
          <a:latin typeface="Arial"/>
          <a:ea typeface="ＭＳ Ｐゴシック"/>
        </a:defRPr>
      </a:lvl3pPr>
      <a:lvl4pPr algn="ctr" defTabSz="457200" rtl="0">
        <a:spcBef>
          <a:spcPts val="0"/>
        </a:spcBef>
        <a:spcAft>
          <a:spcPts val="0"/>
        </a:spcAft>
        <a:defRPr sz="3200" b="1">
          <a:solidFill>
            <a:schemeClr val="tx1"/>
          </a:solidFill>
          <a:latin typeface="Arial"/>
          <a:ea typeface="ＭＳ Ｐゴシック"/>
        </a:defRPr>
      </a:lvl4pPr>
      <a:lvl5pPr algn="ctr" defTabSz="457200" rtl="0">
        <a:spcBef>
          <a:spcPts val="0"/>
        </a:spcBef>
        <a:spcAft>
          <a:spcPts val="0"/>
        </a:spcAft>
        <a:defRPr sz="3200" b="1">
          <a:solidFill>
            <a:schemeClr val="tx1"/>
          </a:solidFill>
          <a:latin typeface="Arial"/>
          <a:ea typeface="ＭＳ Ｐゴシック"/>
        </a:defRPr>
      </a:lvl5pPr>
      <a:lvl6pPr marL="457200" algn="ctr" defTabSz="457200" rtl="0">
        <a:spcBef>
          <a:spcPts val="0"/>
        </a:spcBef>
        <a:spcAft>
          <a:spcPts val="0"/>
        </a:spcAft>
        <a:defRPr sz="3200" b="1">
          <a:solidFill>
            <a:schemeClr val="tx1"/>
          </a:solidFill>
          <a:latin typeface="Arial"/>
          <a:ea typeface="ＭＳ Ｐゴシック"/>
        </a:defRPr>
      </a:lvl6pPr>
      <a:lvl7pPr marL="914400" algn="ctr" defTabSz="457200" rtl="0">
        <a:spcBef>
          <a:spcPts val="0"/>
        </a:spcBef>
        <a:spcAft>
          <a:spcPts val="0"/>
        </a:spcAft>
        <a:defRPr sz="3200" b="1">
          <a:solidFill>
            <a:schemeClr val="tx1"/>
          </a:solidFill>
          <a:latin typeface="Arial"/>
          <a:ea typeface="ＭＳ Ｐゴシック"/>
        </a:defRPr>
      </a:lvl7pPr>
      <a:lvl8pPr marL="1371600" algn="ctr" defTabSz="457200" rtl="0">
        <a:spcBef>
          <a:spcPts val="0"/>
        </a:spcBef>
        <a:spcAft>
          <a:spcPts val="0"/>
        </a:spcAft>
        <a:defRPr sz="3200" b="1">
          <a:solidFill>
            <a:schemeClr val="tx1"/>
          </a:solidFill>
          <a:latin typeface="Arial"/>
          <a:ea typeface="ＭＳ Ｐゴシック"/>
        </a:defRPr>
      </a:lvl8pPr>
      <a:lvl9pPr marL="1828800" algn="ctr" defTabSz="457200" rtl="0">
        <a:spcBef>
          <a:spcPts val="0"/>
        </a:spcBef>
        <a:spcAft>
          <a:spcPts val="0"/>
        </a:spcAft>
        <a:defRPr sz="3200" b="1">
          <a:solidFill>
            <a:schemeClr val="tx1"/>
          </a:solidFill>
          <a:latin typeface="Arial"/>
          <a:ea typeface="ＭＳ Ｐゴシック"/>
        </a:defRPr>
      </a:lvl9pPr>
    </p:titleStyle>
    <p:bodyStyle>
      <a:lvl1pPr marL="342900" indent="-342900" algn="l" defTabSz="457200" rtl="0">
        <a:spcBef>
          <a:spcPts val="0"/>
        </a:spcBef>
        <a:spcAft>
          <a:spcPts val="0"/>
        </a:spcAft>
        <a:buFont typeface="Arial"/>
        <a:buChar char="•"/>
        <a:defRPr sz="2400">
          <a:solidFill>
            <a:schemeClr val="tx1"/>
          </a:solidFill>
          <a:latin typeface="Arial"/>
          <a:ea typeface="ＭＳ Ｐゴシック"/>
          <a:cs typeface="Arial"/>
        </a:defRPr>
      </a:lvl1pPr>
      <a:lvl2pPr marL="742950" indent="-285750" algn="l" defTabSz="457200" rtl="0">
        <a:spcBef>
          <a:spcPts val="0"/>
        </a:spcBef>
        <a:spcAft>
          <a:spcPts val="0"/>
        </a:spcAft>
        <a:buFont typeface="Arial"/>
        <a:buChar char="–"/>
        <a:defRPr sz="2400">
          <a:solidFill>
            <a:schemeClr val="tx1"/>
          </a:solidFill>
          <a:latin typeface="Arial"/>
          <a:ea typeface="ＭＳ Ｐゴシック"/>
          <a:cs typeface="Arial"/>
        </a:defRPr>
      </a:lvl2pPr>
      <a:lvl3pPr marL="1143000" indent="-228600" algn="l" defTabSz="457200" rtl="0">
        <a:spcBef>
          <a:spcPts val="0"/>
        </a:spcBef>
        <a:spcAft>
          <a:spcPts val="0"/>
        </a:spcAft>
        <a:buFont typeface="Arial"/>
        <a:buChar char="•"/>
        <a:defRPr>
          <a:solidFill>
            <a:schemeClr val="tx1"/>
          </a:solidFill>
          <a:latin typeface="Arial"/>
          <a:ea typeface="ＭＳ Ｐゴシック"/>
          <a:cs typeface="Arial"/>
        </a:defRPr>
      </a:lvl3pPr>
      <a:lvl4pPr marL="1600200" indent="-228600" algn="l" defTabSz="457200" rtl="0">
        <a:spcBef>
          <a:spcPts val="0"/>
        </a:spcBef>
        <a:spcAft>
          <a:spcPts val="0"/>
        </a:spcAft>
        <a:buFont typeface="Arial"/>
        <a:buChar char="–"/>
        <a:defRPr sz="1400">
          <a:solidFill>
            <a:schemeClr val="tx1"/>
          </a:solidFill>
          <a:latin typeface="Arial"/>
          <a:ea typeface="ＭＳ Ｐゴシック"/>
          <a:cs typeface="Arial"/>
        </a:defRPr>
      </a:lvl4pPr>
      <a:lvl5pPr marL="2057400" indent="-228600" algn="l" defTabSz="457200" rtl="0">
        <a:spcBef>
          <a:spcPts val="0"/>
        </a:spcBef>
        <a:spcAft>
          <a:spcPts val="0"/>
        </a:spcAft>
        <a:buFont typeface="Arial"/>
        <a:buChar char="»"/>
        <a:defRPr sz="1000">
          <a:solidFill>
            <a:schemeClr val="tx1"/>
          </a:solidFill>
          <a:latin typeface="Arial"/>
          <a:ea typeface="ＭＳ Ｐゴシック"/>
          <a:cs typeface="Arial"/>
        </a:defRPr>
      </a:lvl5pPr>
      <a:lvl6pPr marL="25146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jp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7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jp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0559143" name="Title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>
                <a:latin typeface="Arial"/>
              </a:rPr>
              <a:t>SciantixML</a:t>
            </a:r>
            <a:endParaRPr lang="en-US">
              <a:latin typeface="Arial"/>
            </a:endParaRPr>
          </a:p>
        </p:txBody>
      </p:sp>
      <p:sp>
        <p:nvSpPr>
          <p:cNvPr id="1577902368" name="Subtitle 2"/>
          <p:cNvSpPr>
            <a:spLocks noGrp="1"/>
          </p:cNvSpPr>
          <p:nvPr>
            <p:ph type="subTitle" idx="1"/>
          </p:nvPr>
        </p:nvSpPr>
        <p:spPr bwMode="auto"/>
        <p:txBody>
          <a:bodyPr rtlCol="0">
            <a:normAutofit/>
          </a:bodyPr>
          <a:lstStyle/>
          <a:p>
            <a:pPr>
              <a:spcAft>
                <a:spcPts val="0"/>
              </a:spcAft>
              <a:buFont typeface="Arial"/>
              <a:buNone/>
              <a:defRPr/>
            </a:pPr>
            <a:r>
              <a:rPr lang="en-US">
                <a:ea typeface="+mn-ea"/>
              </a:rPr>
              <a:t>Fletcher Smith</a:t>
            </a:r>
            <a:endParaRPr lang="en-US">
              <a:ea typeface="Arial"/>
            </a:endParaRPr>
          </a:p>
          <a:p>
            <a:pPr>
              <a:spcAft>
                <a:spcPts val="0"/>
              </a:spcAft>
              <a:buFont typeface="Arial"/>
              <a:buNone/>
              <a:defRPr/>
            </a:pPr>
            <a:r>
              <a:rPr lang="en-US">
                <a:ea typeface="Arial"/>
              </a:rPr>
              <a:t>February 20, 2026</a:t>
            </a:r>
            <a:endParaRPr lang="en-US">
              <a:ea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9344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Outline</a:t>
            </a:r>
            <a:endParaRPr/>
          </a:p>
        </p:txBody>
      </p:sp>
      <p:sp>
        <p:nvSpPr>
          <p:cNvPr id="192979740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Neural Networks</a:t>
            </a:r>
            <a:endParaRPr/>
          </a:p>
          <a:p>
            <a:pPr lvl="1">
              <a:defRPr/>
            </a:pPr>
            <a:r>
              <a:rPr/>
              <a:t>Perceptron</a:t>
            </a:r>
            <a:endParaRPr/>
          </a:p>
          <a:p>
            <a:pPr lvl="1">
              <a:defRPr/>
            </a:pPr>
            <a:r>
              <a:rPr/>
              <a:t>Multi-Layer Perceptron</a:t>
            </a:r>
            <a:endParaRPr/>
          </a:p>
          <a:p>
            <a:pPr lvl="1">
              <a:defRPr/>
            </a:pPr>
            <a:r>
              <a:rPr/>
              <a:t>Recursive Neural Networks (RNNs)</a:t>
            </a:r>
            <a:endParaRPr/>
          </a:p>
          <a:p>
            <a:pPr lvl="1">
              <a:defRPr/>
            </a:pPr>
            <a:r>
              <a:rPr/>
              <a:t>NeuralODE</a:t>
            </a:r>
            <a:endParaRPr/>
          </a:p>
          <a:p>
            <a:pPr lvl="0">
              <a:defRPr/>
            </a:pPr>
            <a:r>
              <a:rPr/>
              <a:t>Gathering Data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71727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Neural Networks</a:t>
            </a:r>
            <a:endParaRPr/>
          </a:p>
        </p:txBody>
      </p:sp>
      <p:sp>
        <p:nvSpPr>
          <p:cNvPr id="12463229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180034"/>
            <a:ext cx="7772400" cy="1125139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679249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Neurons</a:t>
            </a:r>
            <a:endParaRPr/>
          </a:p>
        </p:txBody>
      </p:sp>
      <p:sp>
        <p:nvSpPr>
          <p:cNvPr id="477610709" name="Content Placeholder 2"/>
          <p:cNvSpPr>
            <a:spLocks noGrp="1"/>
          </p:cNvSpPr>
          <p:nvPr>
            <p:ph sz="half" idx="1"/>
          </p:nvPr>
        </p:nvSpPr>
        <p:spPr bwMode="auto">
          <a:xfrm flipH="0" flipV="0">
            <a:off x="457200" y="1258488"/>
            <a:ext cx="4038598" cy="333613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>
              <a:defRPr/>
            </a:pPr>
            <a:r>
              <a:rPr/>
              <a:t>Neurons receive signals via their dendrites</a:t>
            </a:r>
            <a:endParaRPr/>
          </a:p>
          <a:p>
            <a:pPr>
              <a:defRPr/>
            </a:pPr>
            <a:r>
              <a:rPr/>
              <a:t>Once they neuron’s action potential has been reached, it sends an electrical signal to the axon</a:t>
            </a:r>
            <a:endParaRPr/>
          </a:p>
          <a:p>
            <a:pPr>
              <a:defRPr/>
            </a:pPr>
            <a:r>
              <a:rPr/>
              <a:t>The axon signals to other neurons</a:t>
            </a:r>
            <a:endParaRPr/>
          </a:p>
        </p:txBody>
      </p:sp>
      <p:pic>
        <p:nvPicPr>
          <p:cNvPr id="304201695" name=""/>
          <p:cNvPicPr>
            <a:picLocks noChangeAspect="1"/>
          </p:cNvPicPr>
          <p:nvPr>
            <p:ph sz="half" idx="2"/>
          </p:nvPr>
        </p:nvPicPr>
        <p:blipFill rotWithShape="1">
          <a:blip r:embed="rId3"/>
          <a:stretch/>
        </p:blipFill>
        <p:spPr bwMode="auto">
          <a:xfrm rot="0">
            <a:off x="4648197" y="1931863"/>
            <a:ext cx="4038598" cy="19893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457424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Perceptron</a:t>
            </a:r>
            <a:endParaRPr/>
          </a:p>
        </p:txBody>
      </p:sp>
      <p:sp>
        <p:nvSpPr>
          <p:cNvPr id="155207384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180034"/>
            <a:ext cx="7772400" cy="1125139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361304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Perceptron</a:t>
            </a:r>
            <a:endParaRPr/>
          </a:p>
        </p:txBody>
      </p:sp>
      <p:sp>
        <p:nvSpPr>
          <p:cNvPr id="1532547851" name="Content Placeholder 2"/>
          <p:cNvSpPr>
            <a:spLocks noGrp="1"/>
          </p:cNvSpPr>
          <p:nvPr>
            <p:ph sz="half" idx="1"/>
          </p:nvPr>
        </p:nvSpPr>
        <p:spPr bwMode="auto">
          <a:xfrm flipH="0" flipV="0">
            <a:off x="457200" y="1258488"/>
            <a:ext cx="3264950" cy="333613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>
              <a:defRPr/>
            </a:pPr>
            <a:r>
              <a:rPr/>
              <a:t>Published by </a:t>
            </a:r>
            <a:r>
              <a:rPr/>
              <a:t>Frank Rosenblatt in 1958</a:t>
            </a:r>
            <a:endParaRPr/>
          </a:p>
          <a:p>
            <a:pPr>
              <a:defRPr/>
            </a:pPr>
            <a:r>
              <a:rPr/>
              <a:t>Multiplies input by a weight and takes the sum</a:t>
            </a:r>
            <a:endParaRPr/>
          </a:p>
          <a:p>
            <a:pPr>
              <a:defRPr/>
            </a:pPr>
            <a:r>
              <a:rPr/>
              <a:t>If sum exceeded a threshold, output 1</a:t>
            </a:r>
            <a:endParaRPr/>
          </a:p>
          <a:p>
            <a:pPr>
              <a:defRPr/>
            </a:pPr>
            <a:r>
              <a:rPr/>
              <a:t>If not, output 0 </a:t>
            </a:r>
            <a:endParaRPr/>
          </a:p>
        </p:txBody>
      </p:sp>
      <p:pic>
        <p:nvPicPr>
          <p:cNvPr id="1850809609" name=""/>
          <p:cNvPicPr>
            <a:picLocks noChangeAspect="1"/>
          </p:cNvPicPr>
          <p:nvPr>
            <p:ph sz="half" idx="2"/>
          </p:nvPr>
        </p:nvPicPr>
        <p:blipFill rotWithShape="1">
          <a:blip r:embed="rId3"/>
          <a:stretch/>
        </p:blipFill>
        <p:spPr bwMode="auto">
          <a:xfrm rot="0">
            <a:off x="3914127" y="1733387"/>
            <a:ext cx="4772669" cy="238633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084586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Perceptron Example</a:t>
            </a:r>
            <a:r>
              <a:rPr/>
              <a:t> – Good Pizza</a:t>
            </a:r>
            <a:endParaRPr/>
          </a:p>
        </p:txBody>
      </p:sp>
      <p:sp>
        <p:nvSpPr>
          <p:cNvPr id="258153886" name=""/>
          <p:cNvSpPr txBox="1"/>
          <p:nvPr/>
        </p:nvSpPr>
        <p:spPr bwMode="auto">
          <a:xfrm rot="0" flipH="0" flipV="0">
            <a:off x="524298" y="1258489"/>
            <a:ext cx="1629816" cy="640440"/>
          </a:xfrm>
          <a:prstGeom prst="rect">
            <a:avLst/>
          </a:prstGeom>
          <a:noFill/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Pepperoni</a:t>
            </a:r>
            <a:endParaRPr/>
          </a:p>
          <a:p>
            <a:pPr algn="ctr">
              <a:defRPr/>
            </a:pPr>
            <a:r>
              <a:rPr/>
              <a:t>10</a:t>
            </a:r>
            <a:endParaRPr/>
          </a:p>
        </p:txBody>
      </p:sp>
      <p:sp>
        <p:nvSpPr>
          <p:cNvPr id="1382976605" name=""/>
          <p:cNvSpPr txBox="1"/>
          <p:nvPr/>
        </p:nvSpPr>
        <p:spPr bwMode="auto">
          <a:xfrm rot="0" flipH="0" flipV="0">
            <a:off x="537616" y="2143384"/>
            <a:ext cx="1635935" cy="640440"/>
          </a:xfrm>
          <a:prstGeom prst="rect">
            <a:avLst/>
          </a:prstGeom>
          <a:noFill/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Cheese</a:t>
            </a:r>
            <a:endParaRPr/>
          </a:p>
          <a:p>
            <a:pPr algn="ctr">
              <a:defRPr/>
            </a:pPr>
            <a:r>
              <a:rPr/>
              <a:t>5</a:t>
            </a:r>
            <a:endParaRPr/>
          </a:p>
        </p:txBody>
      </p:sp>
      <p:sp>
        <p:nvSpPr>
          <p:cNvPr id="2142761040" name=""/>
          <p:cNvSpPr txBox="1"/>
          <p:nvPr/>
        </p:nvSpPr>
        <p:spPr bwMode="auto">
          <a:xfrm rot="0" flipH="0" flipV="0">
            <a:off x="512420" y="3142843"/>
            <a:ext cx="1641694" cy="640440"/>
          </a:xfrm>
          <a:prstGeom prst="rect">
            <a:avLst/>
          </a:prstGeom>
          <a:noFill/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Veggies</a:t>
            </a:r>
            <a:endParaRPr/>
          </a:p>
          <a:p>
            <a:pPr algn="ctr">
              <a:defRPr/>
            </a:pPr>
            <a:r>
              <a:rPr/>
              <a:t>3</a:t>
            </a:r>
            <a:endParaRPr/>
          </a:p>
        </p:txBody>
      </p:sp>
      <p:sp>
        <p:nvSpPr>
          <p:cNvPr id="1371667432" name=""/>
          <p:cNvSpPr txBox="1"/>
          <p:nvPr/>
        </p:nvSpPr>
        <p:spPr bwMode="auto">
          <a:xfrm rot="0" flipH="0" flipV="0">
            <a:off x="524298" y="4007984"/>
            <a:ext cx="1649253" cy="640440"/>
          </a:xfrm>
          <a:prstGeom prst="rect">
            <a:avLst/>
          </a:prstGeom>
          <a:noFill/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Gluten-Free</a:t>
            </a:r>
            <a:endParaRPr/>
          </a:p>
          <a:p>
            <a:pPr algn="ctr">
              <a:defRPr/>
            </a:pPr>
            <a:r>
              <a:rPr/>
              <a:t>0</a:t>
            </a:r>
            <a:endParaRPr/>
          </a:p>
        </p:txBody>
      </p:sp>
      <p:sp>
        <p:nvSpPr>
          <p:cNvPr id="298102342" name=""/>
          <p:cNvSpPr txBox="1"/>
          <p:nvPr/>
        </p:nvSpPr>
        <p:spPr bwMode="auto">
          <a:xfrm rot="0" flipH="0" flipV="0">
            <a:off x="4208274" y="2354736"/>
            <a:ext cx="1672292" cy="1189079"/>
          </a:xfrm>
          <a:prstGeom prst="rect">
            <a:avLst/>
          </a:prstGeom>
          <a:noFill/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Weighted Sum</a:t>
            </a:r>
            <a:endParaRPr/>
          </a:p>
          <a:p>
            <a:pPr algn="ctr">
              <a:defRPr/>
            </a:pPr>
            <a:r>
              <a:rPr/>
              <a:t>1.9</a:t>
            </a:r>
            <a:endParaRPr/>
          </a:p>
          <a:p>
            <a:pPr algn="ctr">
              <a:defRPr/>
            </a:pPr>
            <a:r>
              <a:rPr/>
              <a:t>Threshold</a:t>
            </a:r>
            <a:endParaRPr/>
          </a:p>
          <a:p>
            <a:pPr algn="ctr">
              <a:defRPr/>
            </a:pPr>
            <a:r>
              <a:rPr/>
              <a:t>0</a:t>
            </a:r>
            <a:endParaRPr/>
          </a:p>
        </p:txBody>
      </p:sp>
      <p:sp>
        <p:nvSpPr>
          <p:cNvPr id="795979261" name=""/>
          <p:cNvSpPr txBox="1"/>
          <p:nvPr/>
        </p:nvSpPr>
        <p:spPr bwMode="auto">
          <a:xfrm rot="0" flipH="0" flipV="0">
            <a:off x="7014147" y="2657170"/>
            <a:ext cx="1673370" cy="640440"/>
          </a:xfrm>
          <a:prstGeom prst="rect">
            <a:avLst/>
          </a:prstGeom>
          <a:noFill/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Output</a:t>
            </a:r>
            <a:endParaRPr/>
          </a:p>
          <a:p>
            <a:pPr algn="ctr">
              <a:defRPr/>
            </a:pPr>
            <a:r>
              <a:rPr/>
              <a:t>1</a:t>
            </a:r>
            <a:endParaRPr/>
          </a:p>
        </p:txBody>
      </p:sp>
      <p:cxnSp>
        <p:nvCxnSpPr>
          <p:cNvPr id="1726256828" name=""/>
          <p:cNvCxnSpPr>
            <a:stCxn id="258153886" idx="3"/>
            <a:endCxn id="298102342" idx="1"/>
          </p:cNvCxnSpPr>
          <p:nvPr/>
        </p:nvCxnSpPr>
        <p:spPr bwMode="auto">
          <a:xfrm rot="0" flipH="0" flipV="0">
            <a:off x="2154115" y="1578709"/>
            <a:ext cx="2054159" cy="1370566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505570939" name=""/>
          <p:cNvCxnSpPr>
            <a:endCxn id="298102342" idx="1"/>
          </p:cNvCxnSpPr>
          <p:nvPr/>
        </p:nvCxnSpPr>
        <p:spPr bwMode="auto">
          <a:xfrm rot="0" flipH="0" flipV="0">
            <a:off x="2173552" y="2463604"/>
            <a:ext cx="2034722" cy="485672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711787753" name=""/>
          <p:cNvCxnSpPr>
            <a:endCxn id="298102342" idx="1"/>
          </p:cNvCxnSpPr>
          <p:nvPr/>
        </p:nvCxnSpPr>
        <p:spPr bwMode="auto">
          <a:xfrm rot="0" flipH="0" flipV="1">
            <a:off x="2154115" y="2949276"/>
            <a:ext cx="2054159" cy="513786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361862166" name=""/>
          <p:cNvCxnSpPr>
            <a:stCxn id="1371667432" idx="3"/>
            <a:endCxn id="298102342" idx="1"/>
          </p:cNvCxnSpPr>
          <p:nvPr/>
        </p:nvCxnSpPr>
        <p:spPr bwMode="auto">
          <a:xfrm rot="0" flipH="0" flipV="1">
            <a:off x="2173552" y="2949276"/>
            <a:ext cx="2034722" cy="1378927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571885024" name=""/>
          <p:cNvSpPr txBox="1"/>
          <p:nvPr/>
        </p:nvSpPr>
        <p:spPr bwMode="auto">
          <a:xfrm rot="0" flipH="0" flipV="0">
            <a:off x="2924192" y="1670538"/>
            <a:ext cx="54399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0.2</a:t>
            </a:r>
            <a:endParaRPr/>
          </a:p>
        </p:txBody>
      </p:sp>
      <p:sp>
        <p:nvSpPr>
          <p:cNvPr id="848477228" name=""/>
          <p:cNvSpPr txBox="1"/>
          <p:nvPr/>
        </p:nvSpPr>
        <p:spPr bwMode="auto">
          <a:xfrm rot="0" flipH="0" flipV="0">
            <a:off x="2533680" y="2205630"/>
            <a:ext cx="54435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0.1</a:t>
            </a:r>
            <a:endParaRPr/>
          </a:p>
        </p:txBody>
      </p:sp>
      <p:sp>
        <p:nvSpPr>
          <p:cNvPr id="381150524" name=""/>
          <p:cNvSpPr txBox="1"/>
          <p:nvPr/>
        </p:nvSpPr>
        <p:spPr bwMode="auto">
          <a:xfrm rot="0" flipH="0" flipV="0">
            <a:off x="2652556" y="3896457"/>
            <a:ext cx="54327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-1</a:t>
            </a:r>
            <a:endParaRPr/>
          </a:p>
        </p:txBody>
      </p:sp>
      <p:sp>
        <p:nvSpPr>
          <p:cNvPr id="210241004" name=""/>
          <p:cNvSpPr txBox="1"/>
          <p:nvPr/>
        </p:nvSpPr>
        <p:spPr bwMode="auto">
          <a:xfrm rot="0" flipH="0" flipV="0">
            <a:off x="2380380" y="2949276"/>
            <a:ext cx="54471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-0.2</a:t>
            </a:r>
            <a:endParaRPr/>
          </a:p>
        </p:txBody>
      </p:sp>
      <p:cxnSp>
        <p:nvCxnSpPr>
          <p:cNvPr id="278914467" name=""/>
          <p:cNvCxnSpPr>
            <a:endCxn id="795979261" idx="1"/>
          </p:cNvCxnSpPr>
          <p:nvPr/>
        </p:nvCxnSpPr>
        <p:spPr bwMode="auto">
          <a:xfrm rot="0" flipH="0" flipV="0">
            <a:off x="5880567" y="2977390"/>
            <a:ext cx="1133579" cy="0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014683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Perceptron Example</a:t>
            </a:r>
            <a:r>
              <a:rPr/>
              <a:t> – Bad Pizza</a:t>
            </a:r>
            <a:endParaRPr/>
          </a:p>
        </p:txBody>
      </p:sp>
      <p:sp>
        <p:nvSpPr>
          <p:cNvPr id="678960465" name=""/>
          <p:cNvSpPr txBox="1"/>
          <p:nvPr/>
        </p:nvSpPr>
        <p:spPr bwMode="auto">
          <a:xfrm rot="0" flipH="0" flipV="0">
            <a:off x="524298" y="1258489"/>
            <a:ext cx="1630896" cy="640440"/>
          </a:xfrm>
          <a:prstGeom prst="rect">
            <a:avLst/>
          </a:prstGeom>
          <a:noFill/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Pepperoni</a:t>
            </a:r>
            <a:endParaRPr/>
          </a:p>
          <a:p>
            <a:pPr algn="ctr">
              <a:defRPr/>
            </a:pPr>
            <a:r>
              <a:rPr/>
              <a:t>1</a:t>
            </a:r>
            <a:endParaRPr/>
          </a:p>
        </p:txBody>
      </p:sp>
      <p:sp>
        <p:nvSpPr>
          <p:cNvPr id="359210952" name=""/>
          <p:cNvSpPr txBox="1"/>
          <p:nvPr/>
        </p:nvSpPr>
        <p:spPr bwMode="auto">
          <a:xfrm rot="0" flipH="0" flipV="0">
            <a:off x="537616" y="2143384"/>
            <a:ext cx="1637375" cy="640440"/>
          </a:xfrm>
          <a:prstGeom prst="rect">
            <a:avLst/>
          </a:prstGeom>
          <a:noFill/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Cheese</a:t>
            </a:r>
            <a:endParaRPr/>
          </a:p>
          <a:p>
            <a:pPr algn="ctr">
              <a:defRPr/>
            </a:pPr>
            <a:r>
              <a:rPr/>
              <a:t>3</a:t>
            </a:r>
            <a:endParaRPr/>
          </a:p>
        </p:txBody>
      </p:sp>
      <p:sp>
        <p:nvSpPr>
          <p:cNvPr id="1471361314" name=""/>
          <p:cNvSpPr txBox="1"/>
          <p:nvPr/>
        </p:nvSpPr>
        <p:spPr bwMode="auto">
          <a:xfrm rot="0" flipH="0" flipV="0">
            <a:off x="512420" y="3142843"/>
            <a:ext cx="1642414" cy="640440"/>
          </a:xfrm>
          <a:prstGeom prst="rect">
            <a:avLst/>
          </a:prstGeom>
          <a:noFill/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Veggies</a:t>
            </a:r>
            <a:endParaRPr/>
          </a:p>
          <a:p>
            <a:pPr algn="ctr">
              <a:defRPr/>
            </a:pPr>
            <a:r>
              <a:rPr/>
              <a:t>9</a:t>
            </a:r>
            <a:endParaRPr/>
          </a:p>
        </p:txBody>
      </p:sp>
      <p:sp>
        <p:nvSpPr>
          <p:cNvPr id="1517544311" name=""/>
          <p:cNvSpPr txBox="1"/>
          <p:nvPr/>
        </p:nvSpPr>
        <p:spPr bwMode="auto">
          <a:xfrm rot="0" flipH="0" flipV="0">
            <a:off x="524298" y="4007984"/>
            <a:ext cx="1649973" cy="640440"/>
          </a:xfrm>
          <a:prstGeom prst="rect">
            <a:avLst/>
          </a:prstGeom>
          <a:noFill/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Gluten-Free</a:t>
            </a:r>
            <a:endParaRPr/>
          </a:p>
          <a:p>
            <a:pPr algn="ctr">
              <a:defRPr/>
            </a:pPr>
            <a:r>
              <a:rPr/>
              <a:t>1</a:t>
            </a:r>
            <a:endParaRPr/>
          </a:p>
        </p:txBody>
      </p:sp>
      <p:sp>
        <p:nvSpPr>
          <p:cNvPr id="2062485223" name=""/>
          <p:cNvSpPr txBox="1"/>
          <p:nvPr/>
        </p:nvSpPr>
        <p:spPr bwMode="auto">
          <a:xfrm rot="0" flipH="0" flipV="0">
            <a:off x="4208274" y="2354736"/>
            <a:ext cx="1684172" cy="1189079"/>
          </a:xfrm>
          <a:prstGeom prst="rect">
            <a:avLst/>
          </a:prstGeom>
          <a:noFill/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Weighted Sum</a:t>
            </a:r>
            <a:endParaRPr/>
          </a:p>
          <a:p>
            <a:pPr algn="ctr">
              <a:defRPr/>
            </a:pPr>
            <a:r>
              <a:rPr/>
              <a:t>-2.3</a:t>
            </a:r>
            <a:endParaRPr/>
          </a:p>
          <a:p>
            <a:pPr algn="ctr">
              <a:defRPr/>
            </a:pPr>
            <a:r>
              <a:rPr/>
              <a:t>Threshold</a:t>
            </a:r>
            <a:endParaRPr/>
          </a:p>
          <a:p>
            <a:pPr algn="ctr">
              <a:defRPr/>
            </a:pPr>
            <a:r>
              <a:rPr/>
              <a:t>0</a:t>
            </a:r>
            <a:endParaRPr/>
          </a:p>
        </p:txBody>
      </p:sp>
      <p:sp>
        <p:nvSpPr>
          <p:cNvPr id="1520985512" name=""/>
          <p:cNvSpPr txBox="1"/>
          <p:nvPr/>
        </p:nvSpPr>
        <p:spPr bwMode="auto">
          <a:xfrm rot="0" flipH="0" flipV="0">
            <a:off x="7014147" y="2657170"/>
            <a:ext cx="1674090" cy="640440"/>
          </a:xfrm>
          <a:prstGeom prst="rect">
            <a:avLst/>
          </a:prstGeom>
          <a:noFill/>
          <a:ln w="12699">
            <a:solidFill>
              <a:schemeClr val="tx1"/>
            </a:solidFill>
            <a:prstDash val="solid"/>
          </a:ln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/>
              <a:t>Output</a:t>
            </a:r>
            <a:endParaRPr/>
          </a:p>
          <a:p>
            <a:pPr algn="ctr">
              <a:defRPr/>
            </a:pPr>
            <a:r>
              <a:rPr/>
              <a:t>0</a:t>
            </a:r>
            <a:endParaRPr/>
          </a:p>
        </p:txBody>
      </p:sp>
      <p:cxnSp>
        <p:nvCxnSpPr>
          <p:cNvPr id="268121171" name=""/>
          <p:cNvCxnSpPr>
            <a:stCxn id="678960465" idx="3"/>
            <a:endCxn id="2062485223" idx="1"/>
          </p:cNvCxnSpPr>
          <p:nvPr/>
        </p:nvCxnSpPr>
        <p:spPr bwMode="auto">
          <a:xfrm rot="0" flipH="0" flipV="0">
            <a:off x="2154115" y="1578709"/>
            <a:ext cx="2054159" cy="1370566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365898242" name=""/>
          <p:cNvCxnSpPr>
            <a:endCxn id="2062485223" idx="1"/>
          </p:cNvCxnSpPr>
          <p:nvPr/>
        </p:nvCxnSpPr>
        <p:spPr bwMode="auto">
          <a:xfrm rot="0" flipH="0" flipV="0">
            <a:off x="2173552" y="2463604"/>
            <a:ext cx="2034722" cy="485672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955377834" name=""/>
          <p:cNvCxnSpPr>
            <a:endCxn id="2062485223" idx="1"/>
          </p:cNvCxnSpPr>
          <p:nvPr/>
        </p:nvCxnSpPr>
        <p:spPr bwMode="auto">
          <a:xfrm rot="0" flipH="0" flipV="1">
            <a:off x="2154115" y="2949276"/>
            <a:ext cx="2054159" cy="513786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cxnSp>
        <p:nvCxnSpPr>
          <p:cNvPr id="165621828" name=""/>
          <p:cNvCxnSpPr>
            <a:stCxn id="1517544311" idx="3"/>
            <a:endCxn id="2062485223" idx="1"/>
          </p:cNvCxnSpPr>
          <p:nvPr/>
        </p:nvCxnSpPr>
        <p:spPr bwMode="auto">
          <a:xfrm rot="0" flipH="0" flipV="1">
            <a:off x="2173552" y="2949276"/>
            <a:ext cx="2034722" cy="1378927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  <p:sp>
        <p:nvSpPr>
          <p:cNvPr id="317543457" name=""/>
          <p:cNvSpPr txBox="1"/>
          <p:nvPr/>
        </p:nvSpPr>
        <p:spPr bwMode="auto">
          <a:xfrm rot="0" flipH="0" flipV="0">
            <a:off x="2924192" y="1670538"/>
            <a:ext cx="54399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0.2</a:t>
            </a:r>
            <a:endParaRPr/>
          </a:p>
        </p:txBody>
      </p:sp>
      <p:sp>
        <p:nvSpPr>
          <p:cNvPr id="1116104526" name=""/>
          <p:cNvSpPr txBox="1"/>
          <p:nvPr/>
        </p:nvSpPr>
        <p:spPr bwMode="auto">
          <a:xfrm rot="0" flipH="0" flipV="0">
            <a:off x="2533680" y="2205630"/>
            <a:ext cx="54435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0.1</a:t>
            </a:r>
            <a:endParaRPr/>
          </a:p>
        </p:txBody>
      </p:sp>
      <p:sp>
        <p:nvSpPr>
          <p:cNvPr id="725910915" name=""/>
          <p:cNvSpPr txBox="1"/>
          <p:nvPr/>
        </p:nvSpPr>
        <p:spPr bwMode="auto">
          <a:xfrm rot="0" flipH="0" flipV="0">
            <a:off x="2652556" y="3896457"/>
            <a:ext cx="54327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-1</a:t>
            </a:r>
            <a:endParaRPr/>
          </a:p>
        </p:txBody>
      </p:sp>
      <p:sp>
        <p:nvSpPr>
          <p:cNvPr id="321043997" name=""/>
          <p:cNvSpPr txBox="1"/>
          <p:nvPr/>
        </p:nvSpPr>
        <p:spPr bwMode="auto">
          <a:xfrm rot="0" flipH="0" flipV="0">
            <a:off x="2380380" y="2949276"/>
            <a:ext cx="544711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-0.2</a:t>
            </a:r>
            <a:endParaRPr/>
          </a:p>
        </p:txBody>
      </p:sp>
      <p:cxnSp>
        <p:nvCxnSpPr>
          <p:cNvPr id="444864331" name=""/>
          <p:cNvCxnSpPr>
            <a:endCxn id="1520985512" idx="1"/>
          </p:cNvCxnSpPr>
          <p:nvPr/>
        </p:nvCxnSpPr>
        <p:spPr bwMode="auto">
          <a:xfrm rot="0" flipH="0" flipV="0">
            <a:off x="5880567" y="2977390"/>
            <a:ext cx="1133579" cy="0"/>
          </a:xfrm>
          <a:prstGeom prst="line">
            <a:avLst/>
          </a:prstGeom>
          <a:ln w="19049" cap="flat" cmpd="sng" algn="ctr">
            <a:solidFill>
              <a:schemeClr val="tx1"/>
            </a:solidFill>
            <a:prstDash val="solid"/>
            <a:tailEnd type="arrow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74360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Threshold as a Learned Weight</a:t>
            </a:r>
            <a:endParaRPr/>
          </a:p>
        </p:txBody>
      </p:sp>
      <p:pic>
        <p:nvPicPr>
          <p:cNvPr id="1164673713" name=""/>
          <p:cNvPicPr>
            <a:picLocks noChangeAspect="1"/>
          </p:cNvPicPr>
          <p:nvPr>
            <p:ph idx="1"/>
          </p:nvPr>
        </p:nvPicPr>
        <p:blipFill rotWithShape="1">
          <a:blip r:embed="rId3"/>
          <a:stretch/>
        </p:blipFill>
        <p:spPr bwMode="auto">
          <a:xfrm rot="0">
            <a:off x="1416199" y="1258488"/>
            <a:ext cx="6311598" cy="33361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073390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Training Perceptron</a:t>
            </a:r>
            <a:endParaRPr/>
          </a:p>
        </p:txBody>
      </p:sp>
      <p:sp>
        <p:nvSpPr>
          <p:cNvPr id="262684542" name="Content Placeholder 2"/>
          <p:cNvSpPr>
            <a:spLocks noGrp="1"/>
          </p:cNvSpPr>
          <p:nvPr>
            <p:ph sz="half" idx="1"/>
          </p:nvPr>
        </p:nvSpPr>
        <p:spPr bwMode="auto">
          <a:xfrm flipH="0" flipV="0">
            <a:off x="457200" y="1258488"/>
            <a:ext cx="4038598" cy="333613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>
              <a:defRPr/>
            </a:pPr>
            <a:r>
              <a:rPr/>
              <a:t>Weights are learned as perceptron sees data</a:t>
            </a:r>
            <a:endParaRPr/>
          </a:p>
          <a:p>
            <a:pPr>
              <a:defRPr/>
            </a:pPr>
            <a:r>
              <a:rPr/>
              <a:t>Weights change if perceptron is wrong, no change if right</a:t>
            </a:r>
            <a:endParaRPr/>
          </a:p>
          <a:p>
            <a:pPr>
              <a:defRPr/>
            </a:pPr>
            <a:r>
              <a:rPr/>
              <a:t>Dataset is repeated until perceptron has learned</a:t>
            </a:r>
            <a:endParaRPr/>
          </a:p>
          <a:p>
            <a:pPr>
              <a:defRPr/>
            </a:pPr>
            <a:r>
              <a:rPr/>
              <a:t>Each time through dataset called an “epoch”</a:t>
            </a:r>
            <a:endParaRPr/>
          </a:p>
        </p:txBody>
      </p:sp>
      <p:sp>
        <p:nvSpPr>
          <p:cNvPr id="1764020269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4648197" y="1258488"/>
            <a:ext cx="4038598" cy="333613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indent="0" algn="ctr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  <m:sSub>
                        <m:sSub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=c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data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</m:t>
                          </m:r>
                          <m:sSub>
                            <m:sSubPr>
                              <m:ctrl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pred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/>
          </a:p>
          <a:p>
            <a:pPr marL="0" indent="0" algn="l">
              <a:buFont typeface="Arial"/>
              <a:buNone/>
              <a:defRPr/>
            </a:pPr>
            <a:endParaRPr/>
          </a:p>
          <a:p>
            <a:pPr marL="0" indent="0" algn="l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/>
              <a:t> – weight</a:t>
            </a:r>
            <a:endParaRPr/>
          </a:p>
          <a:p>
            <a:pPr marL="0" indent="0" algn="l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c</m:t>
                      </m:r>
                    </m:oMath>
                  </m:oMathPara>
                </a14:m>
              </mc:Choice>
              <mc:Fallback/>
            </mc:AlternateContent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ＭＳ Ｐゴシック"/>
                <a:cs typeface="Arial"/>
              </a:rPr>
              <a:t> – learning rate</a:t>
            </a:r>
            <a:endParaRPr/>
          </a:p>
          <a:p>
            <a:pPr marL="0" indent="0" algn="l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data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/>
              <a:t> – target value</a:t>
            </a:r>
            <a:endParaRPr/>
          </a:p>
          <a:p>
            <a:pPr marL="0" indent="0" algn="l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pred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ＭＳ Ｐゴシック"/>
                <a:cs typeface="Arial"/>
              </a:rPr>
              <a:t> – predicted value</a:t>
            </a:r>
            <a:endParaRPr/>
          </a:p>
          <a:p>
            <a:pPr marL="0" indent="0" algn="l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ＭＳ Ｐゴシック"/>
                <a:cs typeface="Arial"/>
              </a:rPr>
              <a:t> – input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760135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Training Perceptron</a:t>
            </a:r>
            <a:endParaRPr/>
          </a:p>
        </p:txBody>
      </p:sp>
      <p:graphicFrame>
        <p:nvGraphicFramePr>
          <p:cNvPr id="367732118" name=""/>
          <p:cNvGraphicFramePr>
            <a:graphicFrameLocks xmlns:a="http://schemas.openxmlformats.org/drawingml/2006/main"/>
          </p:cNvGraphicFramePr>
          <p:nvPr>
            <p:ph sz="half" idx="1"/>
          </p:nvPr>
        </p:nvGraphicFramePr>
        <p:xfrm rot="0">
          <a:off x="457200" y="1258488"/>
          <a:ext cx="4038597" cy="1346088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{5940675A-B579-460E-94D1-54222C63F5DA}</a:tableStyleId>
              </a:tblPr>
              <a:tblGrid>
                <a:gridCol w="1009649"/>
                <a:gridCol w="1009649"/>
                <a:gridCol w="1009649"/>
                <a:gridCol w="1009649"/>
              </a:tblGrid>
              <a:tr h="365760">
                <a:tc gridSpan="3"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Features</a:t>
                      </a:r>
                      <a:endParaRPr/>
                    </a:p>
                  </a:txBody>
                  <a:tcPr anchor="ctr"/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Target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0.5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-0.4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0.5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50758956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4648197" y="1258488"/>
            <a:ext cx="4038597" cy="3336131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indent="0" algn="ctr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Δ</m:t>
                      </m:r>
                      <m:sSub>
                        <m:sSub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=c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data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-</m:t>
                          </m:r>
                          <m:sSub>
                            <m:sSubPr>
                              <m:ctrl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y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pred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/>
          </a:p>
          <a:p>
            <a:pPr marL="0" indent="0" algn="l">
              <a:buFont typeface="Arial"/>
              <a:buNone/>
              <a:defRPr/>
            </a:pPr>
            <a:endParaRPr/>
          </a:p>
          <a:p>
            <a:pPr marL="0" indent="0" algn="l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w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/>
              <a:t> – weight</a:t>
            </a:r>
            <a:endParaRPr/>
          </a:p>
          <a:p>
            <a:pPr marL="0" indent="0" algn="l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c</m:t>
                      </m:r>
                    </m:oMath>
                  </m:oMathPara>
                </a14:m>
              </mc:Choice>
              <mc:Fallback/>
            </mc:AlternateContent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ＭＳ Ｐゴシック"/>
                <a:cs typeface="Arial"/>
              </a:rPr>
              <a:t> – learning rate</a:t>
            </a:r>
            <a:endParaRPr/>
          </a:p>
          <a:p>
            <a:pPr marL="0" indent="0" algn="l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data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/>
              <a:t> – target value</a:t>
            </a:r>
            <a:endParaRPr/>
          </a:p>
          <a:p>
            <a:pPr marL="0" indent="0" algn="l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y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pred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ＭＳ Ｐゴシック"/>
                <a:cs typeface="Arial"/>
              </a:rPr>
              <a:t> – predicted value</a:t>
            </a:r>
            <a:endParaRPr/>
          </a:p>
          <a:p>
            <a:pPr marL="0" indent="0" algn="l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x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i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ＭＳ Ｐゴシック"/>
                <a:cs typeface="Arial"/>
              </a:rPr>
              <a:t> – input</a:t>
            </a:r>
            <a:endParaRPr/>
          </a:p>
        </p:txBody>
      </p:sp>
      <p:sp>
        <p:nvSpPr>
          <p:cNvPr id="47968284" name=""/>
          <p:cNvSpPr txBox="1"/>
          <p:nvPr/>
        </p:nvSpPr>
        <p:spPr bwMode="auto">
          <a:xfrm rot="0" flipH="0" flipV="0">
            <a:off x="451161" y="3263604"/>
            <a:ext cx="4072095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Learning Rate = 1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647198332" name=""/>
          <p:cNvGraphicFramePr>
            <a:graphicFrameLocks xmlns:a="http://schemas.openxmlformats.org/drawingml/2006/main"/>
          </p:cNvGraphicFramePr>
          <p:nvPr>
            <p:ph sz="half" idx="2"/>
          </p:nvPr>
        </p:nvGraphicFramePr>
        <p:xfrm rot="0">
          <a:off x="186069" y="1324942"/>
          <a:ext cx="8771860" cy="357885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{5940675A-B579-460E-94D1-54222C63F5DA}</a:tableStyleId>
              </a:tblPr>
              <a:tblGrid>
                <a:gridCol w="583943"/>
                <a:gridCol w="583943"/>
                <a:gridCol w="583943"/>
                <a:gridCol w="583943"/>
                <a:gridCol w="583943"/>
                <a:gridCol w="583943"/>
                <a:gridCol w="583943"/>
                <a:gridCol w="583943"/>
                <a:gridCol w="583943"/>
                <a:gridCol w="684503"/>
                <a:gridCol w="630000"/>
                <a:gridCol w="547290"/>
                <a:gridCol w="547290"/>
                <a:gridCol w="547290"/>
                <a:gridCol w="547290"/>
              </a:tblGrid>
              <a:tr h="365760">
                <a:tc gridSpan="4"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Features (with bias)</a:t>
                      </a:r>
                      <a:endParaRPr/>
                    </a:p>
                  </a:txBody>
                  <a:tcPr anchor="ctr"/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Target</a:t>
                      </a:r>
                      <a:endParaRPr/>
                    </a:p>
                  </a:txBody>
                  <a:tcPr anchor="ctr"/>
                </a:tc>
                <a:tc gridSpan="4"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Weights (with bias)</a:t>
                      </a:r>
                      <a:endParaRPr/>
                    </a:p>
                  </a:txBody>
                  <a:tcPr anchor="ctr"/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Net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Output</a:t>
                      </a:r>
                      <a:endParaRPr/>
                    </a:p>
                  </a:txBody>
                  <a:tcPr anchor="ctr"/>
                </a:tc>
                <a:tc gridSpan="4">
                  <a:txBody>
                    <a:bodyPr/>
                    <a:p>
                      <a:pPr algn="ctr"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>
                                <m:jc m:val="center"/>
                              </m:oMathParaPr>
                              <m:oMath>
                                <m:r>
                                  <m:rPr>
                                    <m:sty m:val="b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Δw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 anchor="ctr"/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3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0.5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0.5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-0.5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-0.4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0.5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-2.2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-0.4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0.5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0.6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0.5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-1.95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-0.4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-2.04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-0.4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0.5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-0.3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0.2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202765360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Training Perceptron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373739953" name=""/>
          <p:cNvGraphicFramePr>
            <a:graphicFrameLocks xmlns:a="http://schemas.openxmlformats.org/drawingml/2006/main"/>
          </p:cNvGraphicFramePr>
          <p:nvPr>
            <p:ph sz="half" idx="2"/>
          </p:nvPr>
        </p:nvGraphicFramePr>
        <p:xfrm rot="0">
          <a:off x="186069" y="1324942"/>
          <a:ext cx="8771860" cy="3578859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{5940675A-B579-460E-94D1-54222C63F5DA}</a:tableStyleId>
              </a:tblPr>
              <a:tblGrid>
                <a:gridCol w="583943"/>
                <a:gridCol w="583943"/>
                <a:gridCol w="583943"/>
                <a:gridCol w="583943"/>
                <a:gridCol w="583943"/>
                <a:gridCol w="583943"/>
                <a:gridCol w="583943"/>
                <a:gridCol w="583943"/>
                <a:gridCol w="583943"/>
                <a:gridCol w="684503"/>
                <a:gridCol w="630000"/>
                <a:gridCol w="547290"/>
                <a:gridCol w="547290"/>
                <a:gridCol w="547290"/>
                <a:gridCol w="547290"/>
              </a:tblGrid>
              <a:tr h="365760">
                <a:tc gridSpan="4"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Features (with bias)</a:t>
                      </a:r>
                      <a:endParaRPr/>
                    </a:p>
                  </a:txBody>
                  <a:tcPr anchor="ctr"/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Target</a:t>
                      </a:r>
                      <a:endParaRPr/>
                    </a:p>
                  </a:txBody>
                  <a:tcPr anchor="ctr"/>
                </a:tc>
                <a:tc gridSpan="4"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Weights (with bias)</a:t>
                      </a:r>
                      <a:endParaRPr/>
                    </a:p>
                  </a:txBody>
                  <a:tcPr anchor="ctr"/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Net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Output</a:t>
                      </a:r>
                      <a:endParaRPr/>
                    </a:p>
                  </a:txBody>
                  <a:tcPr anchor="ctr"/>
                </a:tc>
                <a:tc gridSpan="4">
                  <a:txBody>
                    <a:bodyPr/>
                    <a:p>
                      <a:pPr algn="ctr">
                        <a:defRPr/>
                      </a:pPr>
                      <mc:AlternateContent xmlns:mc="http://schemas.openxmlformats.org/markup-compatibility/2006" xmlns:m="http://schemas.openxmlformats.org/officeDocument/2006/math">
                        <mc:Choice xmlns:a14="http://schemas.microsoft.com/office/drawing/2010/main" Requires="a14">
                          <a14:m>
                            <m:oMathPara>
                              <m:oMathParaPr/>
                              <m:oMath>
                                <m:r>
                                  <m:rPr>
                                    <m:sty m:val="b"/>
                                  </m:rPr>
                                  <a:rPr lang="en-US" sz="1800" u="none" strike="noStrike" cap="none" spc="0">
                                    <a:solidFill>
                                      <a:schemeClr val="dk1"/>
                                    </a:solidFill>
                                    <a:latin typeface="Cambria Math"/>
                                    <a:ea typeface="Cambria Math"/>
                                    <a:cs typeface="Cambria Math"/>
                                  </a:rPr>
                                  <m:t>Δw</m:t>
                                </m:r>
                              </m:oMath>
                            </m:oMathPara>
                          </a14:m>
                        </mc:Choice>
                        <mc:Fallback/>
                      </mc:AlternateContent>
                      <a:endParaRPr/>
                    </a:p>
                  </a:txBody>
                  <a:tcPr anchor="ctr"/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3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0.5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0.5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-0.5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-0.4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0.5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-2.2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-0.4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0.5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0.6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0.5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-1.95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-0.4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-2.04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-0.4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</a:tr>
              <a:tr h="365760"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0.5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-0.3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0.2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1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p>
                      <a:pPr algn="ctr">
                        <a:defRPr/>
                      </a:pPr>
                      <a:r>
                        <a:rPr/>
                        <a:t>0</a:t>
                      </a:r>
                      <a:endParaRPr/>
                    </a:p>
                  </a:txBody>
                  <a:tcPr anchor="ctr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138070887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Training Perceptron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32209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Perceptron Predictions</a:t>
            </a:r>
            <a:endParaRPr/>
          </a:p>
        </p:txBody>
      </p:sp>
      <p:sp>
        <p:nvSpPr>
          <p:cNvPr id="140639976" name="Content Placeholder 2"/>
          <p:cNvSpPr>
            <a:spLocks noGrp="1"/>
          </p:cNvSpPr>
          <p:nvPr>
            <p:ph sz="half" idx="1"/>
          </p:nvPr>
        </p:nvSpPr>
        <p:spPr bwMode="auto">
          <a:xfrm flipH="0" flipV="0">
            <a:off x="457200" y="1258488"/>
            <a:ext cx="2910532" cy="333613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>
              <a:defRPr/>
            </a:pPr>
            <a:r>
              <a:rPr/>
              <a:t>Simple model to understand and train</a:t>
            </a:r>
            <a:endParaRPr/>
          </a:p>
          <a:p>
            <a:pPr>
              <a:defRPr/>
            </a:pPr>
            <a:r>
              <a:rPr/>
              <a:t>Has </a:t>
            </a:r>
            <a:r>
              <a:rPr lang="en-US" sz="2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interpretable</a:t>
            </a:r>
            <a:r>
              <a:rPr/>
              <a:t> results (larger weight, more important factor)</a:t>
            </a:r>
            <a:endParaRPr/>
          </a:p>
          <a:p>
            <a:pPr>
              <a:defRPr/>
            </a:pPr>
            <a:r>
              <a:rPr/>
              <a:t>Can only classify hyperplanes</a:t>
            </a:r>
            <a:endParaRPr/>
          </a:p>
        </p:txBody>
      </p:sp>
      <p:pic>
        <p:nvPicPr>
          <p:cNvPr id="490136605" name=""/>
          <p:cNvPicPr>
            <a:picLocks noChangeAspect="1"/>
          </p:cNvPicPr>
          <p:nvPr>
            <p:ph sz="half" idx="2"/>
          </p:nvPr>
        </p:nvPicPr>
        <p:blipFill rotWithShape="1">
          <a:blip r:embed="rId3"/>
          <a:stretch/>
        </p:blipFill>
        <p:spPr bwMode="auto">
          <a:xfrm rot="0">
            <a:off x="3472839" y="1697830"/>
            <a:ext cx="2447924" cy="2457450"/>
          </a:xfrm>
          <a:prstGeom prst="rect">
            <a:avLst/>
          </a:prstGeom>
        </p:spPr>
      </p:pic>
      <p:pic>
        <p:nvPicPr>
          <p:cNvPr id="165084583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6238873" y="1697830"/>
            <a:ext cx="2447924" cy="245745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3885873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956631" y="0"/>
            <a:ext cx="5230737" cy="51435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765954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Can perceptron do regression?</a:t>
            </a:r>
            <a:endParaRPr/>
          </a:p>
        </p:txBody>
      </p:sp>
      <p:sp>
        <p:nvSpPr>
          <p:cNvPr id="768926640" name="Content Placeholder 2"/>
          <p:cNvSpPr>
            <a:spLocks noGrp="1"/>
          </p:cNvSpPr>
          <p:nvPr>
            <p:ph sz="half" idx="1"/>
          </p:nvPr>
        </p:nvSpPr>
        <p:spPr bwMode="auto">
          <a:xfrm flipH="0" flipV="0">
            <a:off x="457200" y="1258488"/>
            <a:ext cx="4038597" cy="333613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>
              <a:defRPr/>
            </a:pPr>
            <a:r>
              <a:rPr/>
              <a:t>Yes!</a:t>
            </a:r>
            <a:endParaRPr/>
          </a:p>
          <a:p>
            <a:pPr>
              <a:defRPr/>
            </a:pPr>
            <a:r>
              <a:rPr/>
              <a:t>Use activation function</a:t>
            </a:r>
            <a:endParaRPr/>
          </a:p>
          <a:p>
            <a:pPr>
              <a:defRPr/>
            </a:pPr>
            <a:r>
              <a:rPr/>
              <a:t>Scale inputs before putting in perceptron</a:t>
            </a:r>
            <a:endParaRPr/>
          </a:p>
          <a:p>
            <a:pPr>
              <a:defRPr/>
            </a:pPr>
            <a:r>
              <a:rPr/>
              <a:t>Use same scaling to output regression value</a:t>
            </a:r>
            <a:endParaRPr/>
          </a:p>
          <a:p>
            <a:pPr>
              <a:defRPr/>
            </a:pPr>
            <a:r>
              <a:rPr/>
              <a:t>Use MSE or other regression loss function</a:t>
            </a:r>
            <a:endParaRPr/>
          </a:p>
        </p:txBody>
      </p:sp>
      <p:pic>
        <p:nvPicPr>
          <p:cNvPr id="2010906079" name=""/>
          <p:cNvPicPr>
            <a:picLocks noChangeAspect="1"/>
          </p:cNvPicPr>
          <p:nvPr>
            <p:ph sz="half" idx="2"/>
          </p:nvPr>
        </p:nvPicPr>
        <p:blipFill rotWithShape="1">
          <a:blip r:embed="rId3"/>
          <a:stretch/>
        </p:blipFill>
        <p:spPr bwMode="auto">
          <a:xfrm rot="0" flipH="0" flipV="0">
            <a:off x="5015943" y="1258489"/>
            <a:ext cx="3306979" cy="36969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182310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Multi-Layer Perceptron (MLP)</a:t>
            </a:r>
            <a:endParaRPr/>
          </a:p>
        </p:txBody>
      </p:sp>
      <p:sp>
        <p:nvSpPr>
          <p:cNvPr id="9356994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180034"/>
            <a:ext cx="7772400" cy="1125139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640082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Multi-Layer Perceptron</a:t>
            </a:r>
            <a:endParaRPr/>
          </a:p>
        </p:txBody>
      </p:sp>
      <p:sp>
        <p:nvSpPr>
          <p:cNvPr id="1254621459" name="Content Placeholder 2"/>
          <p:cNvSpPr>
            <a:spLocks noGrp="1"/>
          </p:cNvSpPr>
          <p:nvPr>
            <p:ph sz="half" idx="1"/>
          </p:nvPr>
        </p:nvSpPr>
        <p:spPr bwMode="auto">
          <a:xfrm flipH="0" flipV="0">
            <a:off x="457200" y="1258488"/>
            <a:ext cx="4038597" cy="333613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>
              <a:defRPr/>
            </a:pPr>
            <a:r>
              <a:rPr/>
              <a:t>Rather than 1 layer of nodes, let’s have multiple layers of nodes</a:t>
            </a:r>
            <a:endParaRPr/>
          </a:p>
          <a:p>
            <a:pPr>
              <a:defRPr/>
            </a:pPr>
            <a:r>
              <a:rPr/>
              <a:t>Output from one node becomes the input to the next node</a:t>
            </a:r>
            <a:endParaRPr/>
          </a:p>
          <a:p>
            <a:pPr>
              <a:defRPr/>
            </a:pPr>
            <a:r>
              <a:rPr/>
              <a:t>“Hidden layers” are layers inside network</a:t>
            </a:r>
            <a:endParaRPr/>
          </a:p>
        </p:txBody>
      </p:sp>
      <p:pic>
        <p:nvPicPr>
          <p:cNvPr id="913335904" name=""/>
          <p:cNvPicPr>
            <a:picLocks noChangeAspect="1"/>
          </p:cNvPicPr>
          <p:nvPr>
            <p:ph sz="half" idx="2"/>
          </p:nvPr>
        </p:nvPicPr>
        <p:blipFill rotWithShape="1">
          <a:blip r:embed="rId3"/>
          <a:stretch/>
        </p:blipFill>
        <p:spPr bwMode="auto">
          <a:xfrm rot="0">
            <a:off x="4648197" y="1654396"/>
            <a:ext cx="4038597" cy="254431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230673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Training Steps</a:t>
            </a:r>
            <a:endParaRPr/>
          </a:p>
        </p:txBody>
      </p:sp>
      <p:sp>
        <p:nvSpPr>
          <p:cNvPr id="104346369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Forward Propagation</a:t>
            </a:r>
            <a:endParaRPr/>
          </a:p>
          <a:p>
            <a:pPr>
              <a:defRPr/>
            </a:pPr>
            <a:r>
              <a:rPr/>
              <a:t>Back propagation</a:t>
            </a:r>
            <a:endParaRPr/>
          </a:p>
          <a:p>
            <a:pPr>
              <a:defRPr/>
            </a:pPr>
            <a:r>
              <a:rPr/>
              <a:t>Update weights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4613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Backpropagation</a:t>
            </a:r>
            <a:endParaRPr/>
          </a:p>
        </p:txBody>
      </p:sp>
      <p:sp>
        <p:nvSpPr>
          <p:cNvPr id="232134056" name="Content Placeholder 2"/>
          <p:cNvSpPr>
            <a:spLocks noGrp="1"/>
          </p:cNvSpPr>
          <p:nvPr>
            <p:ph sz="half" idx="1"/>
          </p:nvPr>
        </p:nvSpPr>
        <p:spPr bwMode="auto">
          <a:xfrm flipH="0" flipV="0">
            <a:off x="457200" y="1258488"/>
            <a:ext cx="4038597" cy="333613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>
              <a:defRPr/>
            </a:pPr>
            <a:r>
              <a:rPr/>
              <a:t>Needs a differentiable activation function</a:t>
            </a:r>
            <a:endParaRPr/>
          </a:p>
          <a:p>
            <a:pPr>
              <a:defRPr/>
            </a:pPr>
            <a:endParaRPr/>
          </a:p>
        </p:txBody>
      </p:sp>
      <p:sp>
        <p:nvSpPr>
          <p:cNvPr id="2135131290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4648197" y="1258488"/>
            <a:ext cx="4038597" cy="333613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indent="0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f</m:t>
                      </m:r>
                      <m:d>
                        <m:dPr>
                          <m:begChr m:val="("/>
                          <m:endChr m:val=")"/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net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=Z=</m:t>
                      </m:r>
                      <m:f>
                        <m:f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1+</m:t>
                          </m:r>
                          <m:sSup>
                            <m:sSupPr>
                              <m:ctrl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e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sz="24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-net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</mc:Choice>
              <mc:Fallback/>
            </mc:AlternateContent>
            <a:endParaRPr/>
          </a:p>
          <a:p>
            <a:pPr marL="0" indent="0">
              <a:buFont typeface="Arial"/>
              <a:buNone/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4503127" name="Title 1"/>
          <p:cNvSpPr>
            <a:spLocks noGrp="1"/>
          </p:cNvSpPr>
          <p:nvPr>
            <p:ph type="title"/>
          </p:nvPr>
        </p:nvSpPr>
        <p:spPr bwMode="auto">
          <a:xfrm>
            <a:off x="722313" y="1035561"/>
            <a:ext cx="7772400" cy="1021555"/>
          </a:xfrm>
        </p:spPr>
        <p:txBody>
          <a:bodyPr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Gathering data</a:t>
            </a:r>
            <a:endParaRPr/>
          </a:p>
        </p:txBody>
      </p:sp>
      <p:sp>
        <p:nvSpPr>
          <p:cNvPr id="24473864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180034"/>
            <a:ext cx="7772400" cy="1125139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183359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Determining Variables</a:t>
            </a:r>
            <a:endParaRPr/>
          </a:p>
        </p:txBody>
      </p:sp>
      <p:sp>
        <p:nvSpPr>
          <p:cNvPr id="108417192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input_history.txt</a:t>
            </a:r>
            <a:endParaRPr/>
          </a:p>
          <a:p>
            <a:pPr lvl="1">
              <a:defRPr/>
            </a:pPr>
            <a:r>
              <a:rPr/>
              <a:t>time (hr)</a:t>
            </a:r>
            <a:endParaRPr/>
          </a:p>
          <a:p>
            <a:pPr lvl="1">
              <a:defRPr/>
            </a:pPr>
            <a:r>
              <a:rPr/>
              <a:t>Temperature (K)</a:t>
            </a:r>
            <a:endParaRPr/>
          </a:p>
          <a:p>
            <a:pPr lvl="1">
              <a:defRPr/>
            </a:pPr>
            <a:r>
              <a:rPr/>
              <a:t>Fission Rate (fissions/m^3*s)</a:t>
            </a:r>
            <a:endParaRPr/>
          </a:p>
          <a:p>
            <a:pPr lvl="1">
              <a:defRPr/>
            </a:pPr>
            <a:r>
              <a:rPr/>
              <a:t>Hydrostatic Stress (MPa)</a:t>
            </a:r>
            <a:endParaRPr/>
          </a:p>
          <a:p>
            <a:pPr lvl="0">
              <a:defRPr/>
            </a:pPr>
            <a:r>
              <a:rPr/>
              <a:t>Code linearly interpolates between entries</a:t>
            </a:r>
            <a:endParaRPr/>
          </a:p>
        </p:txBody>
      </p:sp>
      <p:pic>
        <p:nvPicPr>
          <p:cNvPr id="739542347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758167" y="3757782"/>
            <a:ext cx="3028950" cy="71437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593320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Time</a:t>
            </a:r>
            <a:endParaRPr/>
          </a:p>
        </p:txBody>
      </p:sp>
      <p:sp>
        <p:nvSpPr>
          <p:cNvPr id="133160832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PWRs refuel every 18 months</a:t>
            </a:r>
            <a:endParaRPr/>
          </a:p>
          <a:p>
            <a:pPr>
              <a:defRPr/>
            </a:pPr>
            <a:r>
              <a:rPr/>
              <a:t>BWRs refuel every 24 months</a:t>
            </a:r>
            <a:endParaRPr/>
          </a:p>
          <a:p>
            <a:pPr>
              <a:defRPr/>
            </a:pPr>
            <a:r>
              <a:rPr/>
              <a:t>One-third of the fuel is shuffled every fuel cycle</a:t>
            </a:r>
            <a:endParaRPr/>
          </a:p>
          <a:p>
            <a:pPr>
              <a:defRPr/>
            </a:pPr>
            <a:r>
              <a:rPr/>
              <a:t>Average capacity factor is 92.7%</a:t>
            </a:r>
            <a:r>
              <a:rPr baseline="30000"/>
              <a:t>1</a:t>
            </a:r>
            <a:endParaRPr/>
          </a:p>
        </p:txBody>
      </p:sp>
      <p:sp>
        <p:nvSpPr>
          <p:cNvPr id="1943067380" name=""/>
          <p:cNvSpPr txBox="1"/>
          <p:nvPr/>
        </p:nvSpPr>
        <p:spPr bwMode="auto">
          <a:xfrm rot="0" flipH="0" flipV="0">
            <a:off x="457199" y="4594621"/>
            <a:ext cx="8230319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900" u="none">
                <a:solidFill>
                  <a:schemeClr val="tx1"/>
                </a:solidFill>
              </a:rPr>
              <a:t>Source: </a:t>
            </a:r>
            <a:r>
              <a:rPr lang="en-US" sz="900" b="0" i="0" strike="noStrike" cap="none" spc="0">
                <a:latin typeface="Calibri"/>
                <a:ea typeface="Calibri"/>
                <a:cs typeface="Calibri"/>
              </a:rPr>
              <a:t>https://www.nei.org/resources/statistics/us-nuclear-operating-plant-basic-information</a:t>
            </a:r>
            <a:r>
              <a:rPr sz="1000" u="none">
                <a:solidFill>
                  <a:schemeClr val="tx1"/>
                </a:solidFill>
              </a:rPr>
              <a:t> </a:t>
            </a:r>
            <a:r>
              <a:rPr sz="900" u="none">
                <a:solidFill>
                  <a:schemeClr val="tx1"/>
                </a:solidFill>
              </a:rPr>
              <a:t>Received data from U.S. Energy Information Administration, updated July 2023</a:t>
            </a:r>
            <a:endParaRPr sz="900" u="none">
              <a:solidFill>
                <a:schemeClr val="tx1"/>
              </a:solidFill>
            </a:endParaRPr>
          </a:p>
        </p:txBody>
      </p:sp>
      <p:sp>
        <p:nvSpPr>
          <p:cNvPr id="1669173678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4648199" y="1258489"/>
            <a:ext cx="4038598" cy="333613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marL="0" indent="0">
              <a:buFont typeface="Arial"/>
              <a:buNone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Operating Hours=3 cycles⋅</m:t>
                      </m:r>
                      <m:f>
                        <m:f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24 months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 cycle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f>
                        <m:f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30 days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 month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</m:t>
                      </m:r>
                      <m:f>
                        <m:fPr>
                          <m:ctrl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24 hours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24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 day</m:t>
                          </m:r>
                        </m:den>
                      </m:f>
                      <m:r>
                        <m:rPr>
                          <m:sty m:val="p"/>
                        </m:rPr>
                        <a:rPr lang="en-US" sz="24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⋅92.7% capacity factor=48,056 hours≈50,000 hours</m:t>
                      </m:r>
                    </m:oMath>
                  </m:oMathPara>
                </a14:m>
              </mc:Choice>
              <mc:Fallback/>
            </mc:AlternateContent>
            <a:endParaRPr lang="en-US" sz="2400" u="none" strike="noStrike" cap="none" spc="0">
              <a:solidFill>
                <a:schemeClr val="tx1"/>
              </a:solidFill>
              <a:latin typeface="Cambria Math"/>
              <a:ea typeface="Cambria Math"/>
              <a:cs typeface="Cambria Math"/>
            </a:endParaRPr>
          </a:p>
          <a:p>
            <a:pPr marL="0" indent="0">
              <a:buFont typeface="Arial"/>
              <a:buNone/>
              <a:defRPr/>
            </a:pPr>
            <a:endParaRPr/>
          </a:p>
        </p:txBody>
      </p:sp>
      <p:sp>
        <p:nvSpPr>
          <p:cNvPr id="1371260429" name=""/>
          <p:cNvSpPr/>
          <p:nvPr/>
        </p:nvSpPr>
        <p:spPr bwMode="auto">
          <a:xfrm>
            <a:off x="4480362" y="2388690"/>
            <a:ext cx="183636" cy="366119"/>
          </a:xfrm>
          <a:prstGeom prst="rect">
            <a:avLst/>
          </a:prstGeom>
          <a:noFill/>
          <a:ln>
            <a:noFill/>
          </a:ln>
        </p:spPr>
        <p:txBody>
          <a:bodyPr rot="0" spcFirstLastPara="0" vertOverflow="overflow" horzOverflow="overflow" vert="horz" wrap="non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 algn="ctr">
              <a:defRPr/>
            </a:pPr>
            <a:endParaRPr>
              <a:latin typeface="Cambria Math"/>
              <a:ea typeface="Cambria Math"/>
              <a:cs typeface="Cambria Math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NCStateU-horizontal-left-lo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NCStateU-horizontal-left-log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ONLYOFFICE/9.2.0.100</Application>
  <PresentationFormat>On-screen Show (4:3)</PresentationFormat>
  <Paragraphs>0</Paragraphs>
  <Slides>23</Slides>
  <Notes>23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4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NC State University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Mark B Dearmon</dc:creator>
  <cp:lastModifiedBy/>
  <cp:revision>7</cp:revision>
  <dcterms:created xsi:type="dcterms:W3CDTF">2014-04-10T19:16:28Z</dcterms:created>
  <dcterms:modified xsi:type="dcterms:W3CDTF">2026-02-20T15:04:08Z</dcterms:modified>
</cp:coreProperties>
</file>