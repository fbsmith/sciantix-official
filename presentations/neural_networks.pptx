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template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ＭＳ Ｐゴシック"/>
      </a:defRPr>
    </a:lvl5pPr>
    <a:lvl6pPr marL="22860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6pPr>
    <a:lvl7pPr marL="27432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7pPr>
    <a:lvl8pPr marL="32004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8pPr>
    <a:lvl9pPr marL="3657600" algn="l" defTabSz="457200" rtl="0">
      <a:defRPr>
        <a:solidFill>
          <a:schemeClr val="tx1"/>
        </a:solidFill>
        <a:latin typeface="Calibri"/>
        <a:ea typeface="ＭＳ Ｐゴシック"/>
        <a:cs typeface="ＭＳ Ｐゴシック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55" d="100"/>
          <a:sy n="155" d="100"/>
        </p:scale>
        <p:origin x="-2040" y="-2000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760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01827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183544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45753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98159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677546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397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0900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46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98C8C3-A912-5BAF-C510-1350369CE6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399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86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84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4C1EB2-D51B-5C9A-EBEC-03CD70BC05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332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0522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180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4C4ADC-7E84-BC30-AC57-74D9A62D86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695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86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70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70C77A-2499-3C36-AEE8-C99B5A13C5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974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841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715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CA4E17-9930-C42F-CD46-C438382D3F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012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893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545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CAA776-547A-C487-DCB1-5DC13FCB48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505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605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14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E965D-D029-9720-457F-3B28EDFCA7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376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455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596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6A3B9-AED9-31EF-23BA-087E5ED191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910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042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548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E78E46-55EB-BDFF-65AA-F223B45C19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265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726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219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2E4A4-6EE3-EDC4-697C-409B364D4C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325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417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46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C9244-9F0E-DF3A-734E-5FA8A792ED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7416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437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866B3F-AB0F-B48A-D110-B64DBB974A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609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587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25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319FC7-B2F0-C779-CB28-681B359888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2153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5743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277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1C831F-5362-E660-8933-CCF7D53F05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52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5997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39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C7E35-A03A-8B2E-A9BB-E70D8B958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209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358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048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C3723D-1BE3-26CD-799B-A4B604D7EC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381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7025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997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13005-4EBF-EBCC-59F0-698E62E32F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262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7166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632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83DAB9-263E-99C2-3148-D85E976475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563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407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36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0BC1F9-FEF1-FA24-DFEC-C66E3F61FA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4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4825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2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68C8CC-28AA-B9D6-78BE-E7EA431A47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137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396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071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3619F-E72A-BF2D-3C49-70FCC9A7E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916281" name="Title 1"/>
          <p:cNvSpPr>
            <a:spLocks noGrp="1"/>
          </p:cNvSpPr>
          <p:nvPr>
            <p:ph type="ctrTitle"/>
          </p:nvPr>
        </p:nvSpPr>
        <p:spPr bwMode="auto">
          <a:xfrm>
            <a:off x="685800" y="1597820"/>
            <a:ext cx="7772400" cy="11025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02662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96523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t>4/9/15</a:t>
            </a:fld>
            <a:endParaRPr lang="en-US"/>
          </a:p>
        </p:txBody>
      </p:sp>
      <p:sp>
        <p:nvSpPr>
          <p:cNvPr id="6333694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6227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1105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75401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03218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t>4/9/15</a:t>
            </a:fld>
            <a:endParaRPr lang="en-US"/>
          </a:p>
        </p:txBody>
      </p:sp>
      <p:sp>
        <p:nvSpPr>
          <p:cNvPr id="4108504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40057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312101" name="Title 1"/>
          <p:cNvSpPr>
            <a:spLocks noGrp="1"/>
          </p:cNvSpPr>
          <p:nvPr>
            <p:ph type="title"/>
          </p:nvPr>
        </p:nvSpPr>
        <p:spPr bwMode="auto"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2658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11250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t>4/9/15</a:t>
            </a:fld>
            <a:endParaRPr lang="en-US"/>
          </a:p>
        </p:txBody>
      </p:sp>
      <p:sp>
        <p:nvSpPr>
          <p:cNvPr id="6834136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22725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60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6876494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9"/>
            <a:ext cx="4038598" cy="33361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83518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9" y="1258489"/>
            <a:ext cx="4038598" cy="33361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1997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t>4/9/15</a:t>
            </a:fld>
            <a:endParaRPr lang="en-US"/>
          </a:p>
        </p:txBody>
      </p:sp>
      <p:sp>
        <p:nvSpPr>
          <p:cNvPr id="8530228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7913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007136" name="Title 1"/>
          <p:cNvSpPr>
            <a:spLocks noGrp="1"/>
          </p:cNvSpPr>
          <p:nvPr>
            <p:ph type="title"/>
          </p:nvPr>
        </p:nvSpPr>
        <p:spPr bwMode="auto">
          <a:xfrm>
            <a:off x="457202" y="457429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209885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57200" y="1258719"/>
            <a:ext cx="4040187" cy="33359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5532918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4645027" y="1258719"/>
            <a:ext cx="4041774" cy="33359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1022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t>4/9/15</a:t>
            </a:fld>
            <a:endParaRPr lang="en-US"/>
          </a:p>
        </p:txBody>
      </p:sp>
      <p:sp>
        <p:nvSpPr>
          <p:cNvPr id="4761019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69205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22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30736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t>4/9/15</a:t>
            </a:fld>
            <a:endParaRPr lang="en-US"/>
          </a:p>
        </p:txBody>
      </p:sp>
      <p:sp>
        <p:nvSpPr>
          <p:cNvPr id="13950664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93991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8571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t>4/9/15</a:t>
            </a:fld>
            <a:endParaRPr lang="en-US"/>
          </a:p>
        </p:txBody>
      </p:sp>
      <p:sp>
        <p:nvSpPr>
          <p:cNvPr id="1933458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96449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050928" name="Title 1"/>
          <p:cNvSpPr>
            <a:spLocks noGrp="1"/>
          </p:cNvSpPr>
          <p:nvPr>
            <p:ph type="title"/>
          </p:nvPr>
        </p:nvSpPr>
        <p:spPr bwMode="auto"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46900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16715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134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t>4/9/15</a:t>
            </a:fld>
            <a:endParaRPr lang="en-US"/>
          </a:p>
        </p:txBody>
      </p:sp>
      <p:sp>
        <p:nvSpPr>
          <p:cNvPr id="7143727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1635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094614" name="Title 1"/>
          <p:cNvSpPr>
            <a:spLocks noGrp="1"/>
          </p:cNvSpPr>
          <p:nvPr>
            <p:ph type="title"/>
          </p:nvPr>
        </p:nvSpPr>
        <p:spPr bwMode="auto"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639139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599813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50340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t>4/9/15</a:t>
            </a:fld>
            <a:endParaRPr lang="en-US"/>
          </a:p>
        </p:txBody>
      </p:sp>
      <p:sp>
        <p:nvSpPr>
          <p:cNvPr id="8467821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03799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3894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113815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7999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t>4/9/15</a:t>
            </a:fld>
            <a:endParaRPr lang="en-US"/>
          </a:p>
        </p:txBody>
      </p:sp>
      <p:sp>
        <p:nvSpPr>
          <p:cNvPr id="17513271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5113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59121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80"/>
            <a:ext cx="20574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063053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80"/>
            <a:ext cx="60198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65127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t>4/9/15</a:t>
            </a:fld>
            <a:endParaRPr lang="en-US"/>
          </a:p>
        </p:txBody>
      </p:sp>
      <p:sp>
        <p:nvSpPr>
          <p:cNvPr id="751366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8583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09891" name="Title Placeholder 1"/>
          <p:cNvSpPr>
            <a:spLocks noGrp="1"/>
          </p:cNvSpPr>
          <p:nvPr>
            <p:ph type="title"/>
          </p:nvPr>
        </p:nvSpPr>
        <p:spPr bwMode="auto">
          <a:xfrm>
            <a:off x="457199" y="457200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Headline Line One</a:t>
            </a:r>
            <a:br>
              <a:rPr lang="en-US"/>
            </a:br>
            <a:r>
              <a:rPr lang="en-US"/>
              <a:t>Headline Line Two</a:t>
            </a:r>
            <a:endParaRPr/>
          </a:p>
        </p:txBody>
      </p:sp>
      <p:sp>
        <p:nvSpPr>
          <p:cNvPr id="119268315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57199" y="1258489"/>
            <a:ext cx="8229600" cy="33361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01327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/>
              <a:t>4/9/15</a:t>
            </a:fld>
            <a:endParaRPr lang="en-US"/>
          </a:p>
        </p:txBody>
      </p:sp>
      <p:sp>
        <p:nvSpPr>
          <p:cNvPr id="8173712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932051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t>‹#›</a:t>
            </a:fld>
            <a:endParaRPr lang="en-US"/>
          </a:p>
        </p:txBody>
      </p:sp>
      <p:pic>
        <p:nvPicPr>
          <p:cNvPr id="699369654" name="Picture 7"/>
          <p:cNvPicPr>
            <a:picLocks noChangeAspect="1"/>
          </p:cNvPicPr>
          <p:nvPr userDrawn="1"/>
        </p:nvPicPr>
        <p:blipFill rotWithShape="1">
          <a:blip r:embed="rId13"/>
          <a:stretch/>
        </p:blipFill>
        <p:spPr bwMode="auto"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  <a:cs typeface="Arial"/>
        </a:defRPr>
      </a:lvl1pPr>
      <a:lvl2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Arial"/>
          <a:ea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Arial"/>
          <a:ea typeface="ＭＳ Ｐゴシック"/>
          <a:cs typeface="Arial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400">
          <a:solidFill>
            <a:schemeClr val="tx1"/>
          </a:solidFill>
          <a:latin typeface="Arial"/>
          <a:ea typeface="ＭＳ Ｐゴシック"/>
          <a:cs typeface="Arial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Arial"/>
          <a:ea typeface="ＭＳ Ｐゴシック"/>
          <a:cs typeface="Arial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1400">
          <a:solidFill>
            <a:schemeClr val="tx1"/>
          </a:solidFill>
          <a:latin typeface="Arial"/>
          <a:ea typeface="ＭＳ Ｐゴシック"/>
          <a:cs typeface="Arial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1000">
          <a:solidFill>
            <a:schemeClr val="tx1"/>
          </a:solidFill>
          <a:latin typeface="Arial"/>
          <a:ea typeface="ＭＳ Ｐゴシック"/>
          <a:cs typeface="Arial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4772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Arial"/>
              </a:rPr>
              <a:t>Neural Networks</a:t>
            </a:r>
            <a:endParaRPr lang="en-US">
              <a:latin typeface="Arial"/>
            </a:endParaRPr>
          </a:p>
        </p:txBody>
      </p:sp>
      <p:sp>
        <p:nvSpPr>
          <p:cNvPr id="688978229" name="Subtitle 2"/>
          <p:cNvSpPr>
            <a:spLocks noGrp="1"/>
          </p:cNvSpPr>
          <p:nvPr>
            <p:ph type="subTitle" idx="1"/>
          </p:nvPr>
        </p:nvSpPr>
        <p:spPr bwMode="auto"/>
        <p:txBody>
          <a:bodyPr rtlCol="0">
            <a:normAutofit/>
          </a:bodyPr>
          <a:lstStyle/>
          <a:p>
            <a:pPr>
              <a:spcAft>
                <a:spcPts val="0"/>
              </a:spcAft>
              <a:buFont typeface="Arial"/>
              <a:buNone/>
              <a:defRPr/>
            </a:pPr>
            <a:r>
              <a:rPr lang="en-US">
                <a:ea typeface="+mn-ea"/>
              </a:rPr>
              <a:t>Fletcher Smith</a:t>
            </a:r>
            <a:endParaRPr lang="en-US"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324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Neurons</a:t>
            </a:r>
            <a:endParaRPr/>
          </a:p>
        </p:txBody>
      </p:sp>
      <p:sp>
        <p:nvSpPr>
          <p:cNvPr id="46530637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8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Neurons receive signals via their dendrites</a:t>
            </a:r>
            <a:endParaRPr/>
          </a:p>
          <a:p>
            <a:pPr>
              <a:defRPr/>
            </a:pPr>
            <a:r>
              <a:rPr/>
              <a:t>Once they neuron’s action potential has been reached, it sends an electrical signal to the axon</a:t>
            </a:r>
            <a:endParaRPr/>
          </a:p>
          <a:p>
            <a:pPr>
              <a:defRPr/>
            </a:pPr>
            <a:r>
              <a:rPr/>
              <a:t>The axon signals to other neurons</a:t>
            </a:r>
            <a:endParaRPr/>
          </a:p>
        </p:txBody>
      </p:sp>
      <p:pic>
        <p:nvPicPr>
          <p:cNvPr id="539468001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4648197" y="1931863"/>
            <a:ext cx="4038598" cy="198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1474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</a:t>
            </a:r>
            <a:endParaRPr/>
          </a:p>
        </p:txBody>
      </p:sp>
      <p:sp>
        <p:nvSpPr>
          <p:cNvPr id="20026187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0861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</a:t>
            </a:r>
            <a:endParaRPr/>
          </a:p>
        </p:txBody>
      </p:sp>
      <p:sp>
        <p:nvSpPr>
          <p:cNvPr id="1358223942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3264950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Published by </a:t>
            </a:r>
            <a:r>
              <a:rPr/>
              <a:t>Frank Rosenblatt in 1958</a:t>
            </a:r>
            <a:endParaRPr/>
          </a:p>
          <a:p>
            <a:pPr>
              <a:defRPr/>
            </a:pPr>
            <a:r>
              <a:rPr/>
              <a:t>Multiplies input by a weight and takes the sum</a:t>
            </a:r>
            <a:endParaRPr/>
          </a:p>
          <a:p>
            <a:pPr>
              <a:defRPr/>
            </a:pPr>
            <a:r>
              <a:rPr/>
              <a:t>If sum exceeded a threshold, output 1</a:t>
            </a:r>
            <a:endParaRPr/>
          </a:p>
          <a:p>
            <a:pPr>
              <a:defRPr/>
            </a:pPr>
            <a:r>
              <a:rPr/>
              <a:t>If not, output 0 </a:t>
            </a:r>
            <a:endParaRPr/>
          </a:p>
        </p:txBody>
      </p:sp>
      <p:pic>
        <p:nvPicPr>
          <p:cNvPr id="931001269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3914127" y="1733387"/>
            <a:ext cx="4772669" cy="2386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2969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 Example</a:t>
            </a:r>
            <a:r>
              <a:rPr/>
              <a:t> – Good Pizza</a:t>
            </a:r>
            <a:endParaRPr/>
          </a:p>
        </p:txBody>
      </p:sp>
      <p:sp>
        <p:nvSpPr>
          <p:cNvPr id="742103819" name=""/>
          <p:cNvSpPr txBox="1"/>
          <p:nvPr/>
        </p:nvSpPr>
        <p:spPr bwMode="auto">
          <a:xfrm rot="0" flipH="0" flipV="0">
            <a:off x="524298" y="1258489"/>
            <a:ext cx="1629816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Pepperoni</a:t>
            </a:r>
            <a:endParaRPr/>
          </a:p>
          <a:p>
            <a:pPr algn="ctr">
              <a:defRPr/>
            </a:pPr>
            <a:r>
              <a:rPr/>
              <a:t>10</a:t>
            </a:r>
            <a:endParaRPr/>
          </a:p>
        </p:txBody>
      </p:sp>
      <p:sp>
        <p:nvSpPr>
          <p:cNvPr id="928513780" name=""/>
          <p:cNvSpPr txBox="1"/>
          <p:nvPr/>
        </p:nvSpPr>
        <p:spPr bwMode="auto">
          <a:xfrm rot="0" flipH="0" flipV="0">
            <a:off x="537616" y="2143384"/>
            <a:ext cx="1635935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Cheese</a:t>
            </a:r>
            <a:endParaRPr/>
          </a:p>
          <a:p>
            <a:pPr algn="ctr">
              <a:defRPr/>
            </a:pPr>
            <a:r>
              <a:rPr/>
              <a:t>5</a:t>
            </a:r>
            <a:endParaRPr/>
          </a:p>
        </p:txBody>
      </p:sp>
      <p:sp>
        <p:nvSpPr>
          <p:cNvPr id="1047534045" name=""/>
          <p:cNvSpPr txBox="1"/>
          <p:nvPr/>
        </p:nvSpPr>
        <p:spPr bwMode="auto">
          <a:xfrm rot="0" flipH="0" flipV="0">
            <a:off x="512420" y="3142843"/>
            <a:ext cx="1641694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Veggies</a:t>
            </a:r>
            <a:endParaRPr/>
          </a:p>
          <a:p>
            <a:pPr algn="ctr">
              <a:defRPr/>
            </a:pPr>
            <a:r>
              <a:rPr/>
              <a:t>3</a:t>
            </a:r>
            <a:endParaRPr/>
          </a:p>
        </p:txBody>
      </p:sp>
      <p:sp>
        <p:nvSpPr>
          <p:cNvPr id="129334217" name=""/>
          <p:cNvSpPr txBox="1"/>
          <p:nvPr/>
        </p:nvSpPr>
        <p:spPr bwMode="auto">
          <a:xfrm rot="0" flipH="0" flipV="0">
            <a:off x="524298" y="4007984"/>
            <a:ext cx="1649253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Gluten-Free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sp>
        <p:nvSpPr>
          <p:cNvPr id="2112738817" name=""/>
          <p:cNvSpPr txBox="1"/>
          <p:nvPr/>
        </p:nvSpPr>
        <p:spPr bwMode="auto">
          <a:xfrm rot="0" flipH="0" flipV="0">
            <a:off x="4208274" y="2354736"/>
            <a:ext cx="1672292" cy="1189079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Weighted Sum</a:t>
            </a:r>
            <a:endParaRPr/>
          </a:p>
          <a:p>
            <a:pPr algn="ctr">
              <a:defRPr/>
            </a:pPr>
            <a:r>
              <a:rPr/>
              <a:t>1.9</a:t>
            </a:r>
            <a:endParaRPr/>
          </a:p>
          <a:p>
            <a:pPr algn="ctr">
              <a:defRPr/>
            </a:pPr>
            <a:r>
              <a:rPr/>
              <a:t>Threshold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sp>
        <p:nvSpPr>
          <p:cNvPr id="1903843567" name=""/>
          <p:cNvSpPr txBox="1"/>
          <p:nvPr/>
        </p:nvSpPr>
        <p:spPr bwMode="auto">
          <a:xfrm rot="0" flipH="0" flipV="0">
            <a:off x="7014147" y="2657170"/>
            <a:ext cx="1673370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Output</a:t>
            </a:r>
            <a:endParaRPr/>
          </a:p>
          <a:p>
            <a:pPr algn="ctr">
              <a:defRPr/>
            </a:pPr>
            <a:r>
              <a:rPr/>
              <a:t>1</a:t>
            </a:r>
            <a:endParaRPr/>
          </a:p>
        </p:txBody>
      </p:sp>
      <p:cxnSp>
        <p:nvCxnSpPr>
          <p:cNvPr id="1268631841" name=""/>
          <p:cNvCxnSpPr>
            <a:stCxn id="742103819" idx="3"/>
            <a:endCxn id="2112738817" idx="1"/>
          </p:cNvCxnSpPr>
          <p:nvPr/>
        </p:nvCxnSpPr>
        <p:spPr bwMode="auto">
          <a:xfrm rot="0" flipH="0" flipV="0">
            <a:off x="2154115" y="1578709"/>
            <a:ext cx="2054159" cy="137056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816057387" name=""/>
          <p:cNvCxnSpPr>
            <a:endCxn id="2112738817" idx="1"/>
          </p:cNvCxnSpPr>
          <p:nvPr/>
        </p:nvCxnSpPr>
        <p:spPr bwMode="auto">
          <a:xfrm rot="0" flipH="0" flipV="0">
            <a:off x="2173552" y="2463604"/>
            <a:ext cx="2034722" cy="48567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1353114" name=""/>
          <p:cNvCxnSpPr>
            <a:endCxn id="2112738817" idx="1"/>
          </p:cNvCxnSpPr>
          <p:nvPr/>
        </p:nvCxnSpPr>
        <p:spPr bwMode="auto">
          <a:xfrm rot="0" flipH="0" flipV="1">
            <a:off x="2154115" y="2949276"/>
            <a:ext cx="2054159" cy="51378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80769443" name=""/>
          <p:cNvCxnSpPr>
            <a:stCxn id="129334217" idx="3"/>
            <a:endCxn id="2112738817" idx="1"/>
          </p:cNvCxnSpPr>
          <p:nvPr/>
        </p:nvCxnSpPr>
        <p:spPr bwMode="auto">
          <a:xfrm rot="0" flipH="0" flipV="1">
            <a:off x="2173552" y="2949276"/>
            <a:ext cx="2034722" cy="137892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471869393" name=""/>
          <p:cNvSpPr txBox="1"/>
          <p:nvPr/>
        </p:nvSpPr>
        <p:spPr bwMode="auto">
          <a:xfrm rot="0" flipH="0" flipV="0">
            <a:off x="2924192" y="1670538"/>
            <a:ext cx="5439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0.2</a:t>
            </a:r>
            <a:endParaRPr/>
          </a:p>
        </p:txBody>
      </p:sp>
      <p:sp>
        <p:nvSpPr>
          <p:cNvPr id="1504866153" name=""/>
          <p:cNvSpPr txBox="1"/>
          <p:nvPr/>
        </p:nvSpPr>
        <p:spPr bwMode="auto">
          <a:xfrm rot="0" flipH="0" flipV="0">
            <a:off x="2533680" y="2205630"/>
            <a:ext cx="5443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0.1</a:t>
            </a:r>
            <a:endParaRPr/>
          </a:p>
        </p:txBody>
      </p:sp>
      <p:sp>
        <p:nvSpPr>
          <p:cNvPr id="671099022" name=""/>
          <p:cNvSpPr txBox="1"/>
          <p:nvPr/>
        </p:nvSpPr>
        <p:spPr bwMode="auto">
          <a:xfrm rot="0" flipH="0" flipV="0">
            <a:off x="2652556" y="3896457"/>
            <a:ext cx="5432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-1</a:t>
            </a:r>
            <a:endParaRPr/>
          </a:p>
        </p:txBody>
      </p:sp>
      <p:sp>
        <p:nvSpPr>
          <p:cNvPr id="104231735" name=""/>
          <p:cNvSpPr txBox="1"/>
          <p:nvPr/>
        </p:nvSpPr>
        <p:spPr bwMode="auto">
          <a:xfrm rot="0" flipH="0" flipV="0">
            <a:off x="2380380" y="2949276"/>
            <a:ext cx="5447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-0.2</a:t>
            </a:r>
            <a:endParaRPr/>
          </a:p>
        </p:txBody>
      </p:sp>
      <p:cxnSp>
        <p:nvCxnSpPr>
          <p:cNvPr id="1517894214" name=""/>
          <p:cNvCxnSpPr>
            <a:endCxn id="1903843567" idx="1"/>
          </p:cNvCxnSpPr>
          <p:nvPr/>
        </p:nvCxnSpPr>
        <p:spPr bwMode="auto">
          <a:xfrm rot="0" flipH="0" flipV="0">
            <a:off x="5880567" y="2977390"/>
            <a:ext cx="1133579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7746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 Example</a:t>
            </a:r>
            <a:r>
              <a:rPr/>
              <a:t> – Bad Pizza</a:t>
            </a:r>
            <a:endParaRPr/>
          </a:p>
        </p:txBody>
      </p:sp>
      <p:sp>
        <p:nvSpPr>
          <p:cNvPr id="848726137" name=""/>
          <p:cNvSpPr txBox="1"/>
          <p:nvPr/>
        </p:nvSpPr>
        <p:spPr bwMode="auto">
          <a:xfrm rot="0" flipH="0" flipV="0">
            <a:off x="524298" y="1258489"/>
            <a:ext cx="1630896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Pepperoni</a:t>
            </a:r>
            <a:endParaRPr/>
          </a:p>
          <a:p>
            <a:pPr algn="ctr">
              <a:defRPr/>
            </a:pPr>
            <a:r>
              <a:rPr/>
              <a:t>1</a:t>
            </a:r>
            <a:endParaRPr/>
          </a:p>
        </p:txBody>
      </p:sp>
      <p:sp>
        <p:nvSpPr>
          <p:cNvPr id="1670660293" name=""/>
          <p:cNvSpPr txBox="1"/>
          <p:nvPr/>
        </p:nvSpPr>
        <p:spPr bwMode="auto">
          <a:xfrm rot="0" flipH="0" flipV="0">
            <a:off x="537616" y="2143384"/>
            <a:ext cx="1637375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Cheese</a:t>
            </a:r>
            <a:endParaRPr/>
          </a:p>
          <a:p>
            <a:pPr algn="ctr">
              <a:defRPr/>
            </a:pPr>
            <a:r>
              <a:rPr/>
              <a:t>3</a:t>
            </a:r>
            <a:endParaRPr/>
          </a:p>
        </p:txBody>
      </p:sp>
      <p:sp>
        <p:nvSpPr>
          <p:cNvPr id="1637375736" name=""/>
          <p:cNvSpPr txBox="1"/>
          <p:nvPr/>
        </p:nvSpPr>
        <p:spPr bwMode="auto">
          <a:xfrm rot="0" flipH="0" flipV="0">
            <a:off x="512420" y="3142843"/>
            <a:ext cx="1642414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Veggies</a:t>
            </a:r>
            <a:endParaRPr/>
          </a:p>
          <a:p>
            <a:pPr algn="ctr">
              <a:defRPr/>
            </a:pPr>
            <a:r>
              <a:rPr/>
              <a:t>9</a:t>
            </a:r>
            <a:endParaRPr/>
          </a:p>
        </p:txBody>
      </p:sp>
      <p:sp>
        <p:nvSpPr>
          <p:cNvPr id="959037026" name=""/>
          <p:cNvSpPr txBox="1"/>
          <p:nvPr/>
        </p:nvSpPr>
        <p:spPr bwMode="auto">
          <a:xfrm rot="0" flipH="0" flipV="0">
            <a:off x="524298" y="4007984"/>
            <a:ext cx="1649973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Gluten-Free</a:t>
            </a:r>
            <a:endParaRPr/>
          </a:p>
          <a:p>
            <a:pPr algn="ctr">
              <a:defRPr/>
            </a:pPr>
            <a:r>
              <a:rPr/>
              <a:t>1</a:t>
            </a:r>
            <a:endParaRPr/>
          </a:p>
        </p:txBody>
      </p:sp>
      <p:sp>
        <p:nvSpPr>
          <p:cNvPr id="258127645" name=""/>
          <p:cNvSpPr txBox="1"/>
          <p:nvPr/>
        </p:nvSpPr>
        <p:spPr bwMode="auto">
          <a:xfrm rot="0" flipH="0" flipV="0">
            <a:off x="4208274" y="2354736"/>
            <a:ext cx="1684172" cy="1189079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Weighted Sum</a:t>
            </a:r>
            <a:endParaRPr/>
          </a:p>
          <a:p>
            <a:pPr algn="ctr">
              <a:defRPr/>
            </a:pPr>
            <a:r>
              <a:rPr/>
              <a:t>-2.3</a:t>
            </a:r>
            <a:endParaRPr/>
          </a:p>
          <a:p>
            <a:pPr algn="ctr">
              <a:defRPr/>
            </a:pPr>
            <a:r>
              <a:rPr/>
              <a:t>Threshold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sp>
        <p:nvSpPr>
          <p:cNvPr id="1052805950" name=""/>
          <p:cNvSpPr txBox="1"/>
          <p:nvPr/>
        </p:nvSpPr>
        <p:spPr bwMode="auto">
          <a:xfrm rot="0" flipH="0" flipV="0">
            <a:off x="7014147" y="2657170"/>
            <a:ext cx="1674090" cy="640440"/>
          </a:xfrm>
          <a:prstGeom prst="rect">
            <a:avLst/>
          </a:prstGeom>
          <a:noFill/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Output</a:t>
            </a:r>
            <a:endParaRPr/>
          </a:p>
          <a:p>
            <a:pPr algn="ctr">
              <a:defRPr/>
            </a:pPr>
            <a:r>
              <a:rPr/>
              <a:t>0</a:t>
            </a:r>
            <a:endParaRPr/>
          </a:p>
        </p:txBody>
      </p:sp>
      <p:cxnSp>
        <p:nvCxnSpPr>
          <p:cNvPr id="2094297658" name=""/>
          <p:cNvCxnSpPr>
            <a:stCxn id="848726137" idx="3"/>
            <a:endCxn id="258127645" idx="1"/>
          </p:cNvCxnSpPr>
          <p:nvPr/>
        </p:nvCxnSpPr>
        <p:spPr bwMode="auto">
          <a:xfrm rot="0" flipH="0" flipV="0">
            <a:off x="2154115" y="1578709"/>
            <a:ext cx="2054159" cy="137056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044999834" name=""/>
          <p:cNvCxnSpPr>
            <a:endCxn id="258127645" idx="1"/>
          </p:cNvCxnSpPr>
          <p:nvPr/>
        </p:nvCxnSpPr>
        <p:spPr bwMode="auto">
          <a:xfrm rot="0" flipH="0" flipV="0">
            <a:off x="2173552" y="2463604"/>
            <a:ext cx="2034722" cy="48567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75566796" name=""/>
          <p:cNvCxnSpPr>
            <a:endCxn id="258127645" idx="1"/>
          </p:cNvCxnSpPr>
          <p:nvPr/>
        </p:nvCxnSpPr>
        <p:spPr bwMode="auto">
          <a:xfrm rot="0" flipH="0" flipV="1">
            <a:off x="2154115" y="2949276"/>
            <a:ext cx="2054159" cy="51378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342729921" name=""/>
          <p:cNvCxnSpPr>
            <a:stCxn id="959037026" idx="3"/>
            <a:endCxn id="258127645" idx="1"/>
          </p:cNvCxnSpPr>
          <p:nvPr/>
        </p:nvCxnSpPr>
        <p:spPr bwMode="auto">
          <a:xfrm rot="0" flipH="0" flipV="1">
            <a:off x="2173552" y="2949276"/>
            <a:ext cx="2034722" cy="137892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075729064" name=""/>
          <p:cNvSpPr txBox="1"/>
          <p:nvPr/>
        </p:nvSpPr>
        <p:spPr bwMode="auto">
          <a:xfrm rot="0" flipH="0" flipV="0">
            <a:off x="2924192" y="1670538"/>
            <a:ext cx="5439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0.2</a:t>
            </a:r>
            <a:endParaRPr/>
          </a:p>
        </p:txBody>
      </p:sp>
      <p:sp>
        <p:nvSpPr>
          <p:cNvPr id="1242867690" name=""/>
          <p:cNvSpPr txBox="1"/>
          <p:nvPr/>
        </p:nvSpPr>
        <p:spPr bwMode="auto">
          <a:xfrm rot="0" flipH="0" flipV="0">
            <a:off x="2533680" y="2205630"/>
            <a:ext cx="5443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0.1</a:t>
            </a:r>
            <a:endParaRPr/>
          </a:p>
        </p:txBody>
      </p:sp>
      <p:sp>
        <p:nvSpPr>
          <p:cNvPr id="236936898" name=""/>
          <p:cNvSpPr txBox="1"/>
          <p:nvPr/>
        </p:nvSpPr>
        <p:spPr bwMode="auto">
          <a:xfrm rot="0" flipH="0" flipV="0">
            <a:off x="2652556" y="3896457"/>
            <a:ext cx="54327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-1</a:t>
            </a:r>
            <a:endParaRPr/>
          </a:p>
        </p:txBody>
      </p:sp>
      <p:sp>
        <p:nvSpPr>
          <p:cNvPr id="948053216" name=""/>
          <p:cNvSpPr txBox="1"/>
          <p:nvPr/>
        </p:nvSpPr>
        <p:spPr bwMode="auto">
          <a:xfrm rot="0" flipH="0" flipV="0">
            <a:off x="2380380" y="2949276"/>
            <a:ext cx="5447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-0.2</a:t>
            </a:r>
            <a:endParaRPr/>
          </a:p>
        </p:txBody>
      </p:sp>
      <p:cxnSp>
        <p:nvCxnSpPr>
          <p:cNvPr id="170025893" name=""/>
          <p:cNvCxnSpPr>
            <a:endCxn id="1052805950" idx="1"/>
          </p:cNvCxnSpPr>
          <p:nvPr/>
        </p:nvCxnSpPr>
        <p:spPr bwMode="auto">
          <a:xfrm rot="0" flipH="0" flipV="0">
            <a:off x="5880567" y="2977390"/>
            <a:ext cx="1133579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533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Threshold as a Learned Weight</a:t>
            </a:r>
            <a:endParaRPr/>
          </a:p>
        </p:txBody>
      </p:sp>
      <p:pic>
        <p:nvPicPr>
          <p:cNvPr id="116702875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416199" y="1258488"/>
            <a:ext cx="6311598" cy="3336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4472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  <p:sp>
        <p:nvSpPr>
          <p:cNvPr id="2030491109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8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Weights are learned as perceptron sees data</a:t>
            </a:r>
            <a:endParaRPr/>
          </a:p>
          <a:p>
            <a:pPr>
              <a:defRPr/>
            </a:pPr>
            <a:r>
              <a:rPr/>
              <a:t>Weights change if perceptron is wrong, no change if right</a:t>
            </a:r>
            <a:endParaRPr/>
          </a:p>
          <a:p>
            <a:pPr>
              <a:defRPr/>
            </a:pPr>
            <a:r>
              <a:rPr/>
              <a:t>Dataset is repeated until perceptron has learned</a:t>
            </a:r>
            <a:endParaRPr/>
          </a:p>
          <a:p>
            <a:pPr>
              <a:defRPr/>
            </a:pPr>
            <a:r>
              <a:rPr/>
              <a:t>Each time through dataset called an “epoch”</a:t>
            </a:r>
            <a:endParaRPr/>
          </a:p>
        </p:txBody>
      </p:sp>
      <p:sp>
        <p:nvSpPr>
          <p:cNvPr id="514222986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7" y="1258488"/>
            <a:ext cx="4038598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data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  <a:p>
            <a:pPr marL="0" indent="0" algn="l">
              <a:buFont typeface="Arial"/>
              <a:buNone/>
              <a:defRPr/>
            </a:pP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weight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learning rate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target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pred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predicted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input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479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  <p:graphicFrame>
        <p:nvGraphicFramePr>
          <p:cNvPr id="1393262588" name=""/>
          <p:cNvGraphicFramePr>
            <a:graphicFrameLocks xmlns:a="http://schemas.openxmlformats.org/drawingml/2006/main"/>
          </p:cNvGraphicFramePr>
          <p:nvPr>
            <p:ph sz="half" idx="1"/>
          </p:nvPr>
        </p:nvGraphicFramePr>
        <p:xfrm rot="0">
          <a:off x="457200" y="1258488"/>
          <a:ext cx="4038597" cy="13460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009649"/>
                <a:gridCol w="1009649"/>
                <a:gridCol w="1009649"/>
                <a:gridCol w="1009649"/>
              </a:tblGrid>
              <a:tr h="365760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Features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7476002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7" y="1258488"/>
            <a:ext cx="4038597" cy="33361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data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  <a:p>
            <a:pPr marL="0" indent="0" algn="l">
              <a:buFont typeface="Arial"/>
              <a:buNone/>
              <a:defRPr/>
            </a:pP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weight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learning rate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/>
              <a:t> – target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pred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predicted value</a:t>
            </a:r>
            <a:endParaRPr/>
          </a:p>
          <a:p>
            <a:pPr marL="0" indent="0" algn="l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 – input</a:t>
            </a:r>
            <a:endParaRPr/>
          </a:p>
        </p:txBody>
      </p:sp>
      <p:sp>
        <p:nvSpPr>
          <p:cNvPr id="688967114" name=""/>
          <p:cNvSpPr txBox="1"/>
          <p:nvPr/>
        </p:nvSpPr>
        <p:spPr bwMode="auto">
          <a:xfrm rot="0" flipH="0" flipV="0">
            <a:off x="457199" y="3711839"/>
            <a:ext cx="407209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Learning Rate =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81841939" name=""/>
          <p:cNvGraphicFramePr>
            <a:graphicFrameLocks xmlns:a="http://schemas.openxmlformats.org/drawingml/2006/main"/>
          </p:cNvGraphicFramePr>
          <p:nvPr>
            <p:ph sz="half" idx="2"/>
          </p:nvPr>
        </p:nvGraphicFramePr>
        <p:xfrm rot="0">
          <a:off x="186069" y="1324942"/>
          <a:ext cx="8771860" cy="35788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684503"/>
                <a:gridCol w="630000"/>
                <a:gridCol w="547290"/>
                <a:gridCol w="547290"/>
                <a:gridCol w="547290"/>
                <a:gridCol w="547290"/>
              </a:tblGrid>
              <a:tr h="365760"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Features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Weights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Net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Output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>
                                <m:jc m:val="center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Δw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0.6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-1.95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-2.04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50393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27078820" name=""/>
          <p:cNvGraphicFramePr>
            <a:graphicFrameLocks xmlns:a="http://schemas.openxmlformats.org/drawingml/2006/main"/>
          </p:cNvGraphicFramePr>
          <p:nvPr>
            <p:ph sz="half" idx="2"/>
          </p:nvPr>
        </p:nvGraphicFramePr>
        <p:xfrm rot="0">
          <a:off x="186069" y="1324942"/>
          <a:ext cx="8771860" cy="35788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583943"/>
                <a:gridCol w="684503"/>
                <a:gridCol w="630000"/>
                <a:gridCol w="547290"/>
                <a:gridCol w="547290"/>
                <a:gridCol w="547290"/>
                <a:gridCol w="547290"/>
              </a:tblGrid>
              <a:tr h="365760"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Features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Weights (with bias)</a:t>
                      </a:r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Net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Output</a:t>
                      </a:r>
                      <a:endParaRPr/>
                    </a:p>
                  </a:txBody>
                  <a:tcPr anchor="ctr"/>
                </a:tc>
                <a:tc gridSpan="4"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Δw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-2.2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0.6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-1.95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-2.04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-0.4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0.5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-0.3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0.2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36835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Perceptron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937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Perceptron Predictions</a:t>
            </a:r>
            <a:endParaRPr/>
          </a:p>
        </p:txBody>
      </p:sp>
      <p:sp>
        <p:nvSpPr>
          <p:cNvPr id="161167543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2910532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Simple model to understand and train</a:t>
            </a:r>
            <a:endParaRPr/>
          </a:p>
          <a:p>
            <a:pPr>
              <a:defRPr/>
            </a:pPr>
            <a:r>
              <a:rPr/>
              <a:t>Has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interpretable</a:t>
            </a:r>
            <a:r>
              <a:rPr/>
              <a:t> results (larger weight, more important factor)</a:t>
            </a:r>
            <a:endParaRPr/>
          </a:p>
          <a:p>
            <a:pPr>
              <a:defRPr/>
            </a:pPr>
            <a:r>
              <a:rPr/>
              <a:t>Can only classify hyperplanes</a:t>
            </a:r>
            <a:endParaRPr/>
          </a:p>
        </p:txBody>
      </p:sp>
      <p:pic>
        <p:nvPicPr>
          <p:cNvPr id="24384231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3472839" y="1697830"/>
            <a:ext cx="2447924" cy="2457450"/>
          </a:xfrm>
          <a:prstGeom prst="rect">
            <a:avLst/>
          </a:prstGeom>
        </p:spPr>
      </p:pic>
      <p:pic>
        <p:nvPicPr>
          <p:cNvPr id="198168426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38873" y="1697830"/>
            <a:ext cx="2447924" cy="2457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6269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Activation Functions</a:t>
            </a:r>
            <a:endParaRPr/>
          </a:p>
        </p:txBody>
      </p:sp>
      <p:sp>
        <p:nvSpPr>
          <p:cNvPr id="393583112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Transform net calculated value to output value</a:t>
            </a:r>
            <a:endParaRPr/>
          </a:p>
          <a:p>
            <a:pPr>
              <a:defRPr/>
            </a:pPr>
            <a:r>
              <a:rPr/>
              <a:t>Classical perceptron uses threshold/unit step functions</a:t>
            </a:r>
            <a:endParaRPr/>
          </a:p>
          <a:p>
            <a:pPr>
              <a:defRPr/>
            </a:pPr>
            <a:r>
              <a:rPr/>
              <a:t>Other smooth functions make regression possible</a:t>
            </a:r>
            <a:endParaRPr/>
          </a:p>
        </p:txBody>
      </p:sp>
      <p:pic>
        <p:nvPicPr>
          <p:cNvPr id="713251583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4971139" y="1258488"/>
            <a:ext cx="3392715" cy="33361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3213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Regression with Neural Networks</a:t>
            </a:r>
            <a:endParaRPr/>
          </a:p>
        </p:txBody>
      </p:sp>
      <p:sp>
        <p:nvSpPr>
          <p:cNvPr id="1328535511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Classification problems have discrete output (yes/no, 1/2/3, etc.)</a:t>
            </a:r>
            <a:endParaRPr/>
          </a:p>
          <a:p>
            <a:pPr>
              <a:defRPr/>
            </a:pPr>
            <a:r>
              <a:rPr/>
              <a:t>Regression problems have continuous outputs (temperature, pressure, home price)</a:t>
            </a:r>
            <a:endParaRPr/>
          </a:p>
          <a:p>
            <a:pPr>
              <a:defRPr/>
            </a:pPr>
            <a:r>
              <a:rPr/>
              <a:t>Must use SSE/MSE/other loss function</a:t>
            </a:r>
            <a:endParaRPr/>
          </a:p>
        </p:txBody>
      </p:sp>
      <p:pic>
        <p:nvPicPr>
          <p:cNvPr id="1770289128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 flipH="0" flipV="0">
            <a:off x="4752045" y="1700910"/>
            <a:ext cx="3813112" cy="2451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903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Multi-Layer Perceptron (MLP)</a:t>
            </a:r>
            <a:endParaRPr/>
          </a:p>
        </p:txBody>
      </p:sp>
      <p:sp>
        <p:nvSpPr>
          <p:cNvPr id="6321181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258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Multi-Layer Perceptron</a:t>
            </a:r>
            <a:endParaRPr/>
          </a:p>
        </p:txBody>
      </p:sp>
      <p:sp>
        <p:nvSpPr>
          <p:cNvPr id="2084106899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Rather than 1 layer of nodes, let’s have multiple layers of nodes</a:t>
            </a:r>
            <a:endParaRPr/>
          </a:p>
          <a:p>
            <a:pPr>
              <a:defRPr/>
            </a:pPr>
            <a:r>
              <a:rPr/>
              <a:t>Output from one node becomes the input to the next node</a:t>
            </a:r>
            <a:endParaRPr/>
          </a:p>
          <a:p>
            <a:pPr>
              <a:defRPr/>
            </a:pPr>
            <a:r>
              <a:rPr/>
              <a:t>“Hidden layers” are layers inside network</a:t>
            </a:r>
            <a:endParaRPr/>
          </a:p>
        </p:txBody>
      </p:sp>
      <p:pic>
        <p:nvPicPr>
          <p:cNvPr id="1584294552" name=""/>
          <p:cNvPicPr>
            <a:picLocks noChangeAspect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 rot="0">
            <a:off x="4648197" y="1654396"/>
            <a:ext cx="4038597" cy="2544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16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Training Steps</a:t>
            </a:r>
            <a:endParaRPr/>
          </a:p>
        </p:txBody>
      </p:sp>
      <p:sp>
        <p:nvSpPr>
          <p:cNvPr id="17032803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49965" indent="-349965">
              <a:buFont typeface="Arial"/>
              <a:buAutoNum type="arabicPeriod"/>
              <a:defRPr/>
            </a:pPr>
            <a:r>
              <a:rPr/>
              <a:t>Forward Propagation</a:t>
            </a:r>
            <a:endParaRPr/>
          </a:p>
          <a:p>
            <a:pPr lvl="1">
              <a:buFont typeface="Arial"/>
              <a:buChar char="•"/>
              <a:defRPr/>
            </a:pPr>
            <a:r>
              <a:rPr/>
              <a:t>Go through entire </a:t>
            </a:r>
            <a:r>
              <a:rPr/>
              <a:t>network from inputs to final output</a:t>
            </a:r>
            <a:endParaRPr/>
          </a:p>
          <a:p>
            <a:pPr marL="349965" indent="-349965">
              <a:buFont typeface="Arial"/>
              <a:buAutoNum type="arabicPeriod"/>
              <a:defRPr/>
            </a:pPr>
            <a:r>
              <a:rPr/>
              <a:t>Back propagation</a:t>
            </a:r>
            <a:endParaRPr/>
          </a:p>
          <a:p>
            <a:pPr lvl="1">
              <a:buFont typeface="Arial"/>
              <a:buChar char="•"/>
              <a:defRPr/>
            </a:pPr>
            <a:endParaRPr/>
          </a:p>
          <a:p>
            <a:pPr marL="349965" indent="-349965">
              <a:buFont typeface="Arial"/>
              <a:buAutoNum type="arabicPeriod"/>
              <a:defRPr/>
            </a:pPr>
            <a:r>
              <a:rPr/>
              <a:t>Update weights</a:t>
            </a:r>
            <a:endParaRPr/>
          </a:p>
        </p:txBody>
      </p:sp>
      <p:sp>
        <p:nvSpPr>
          <p:cNvPr id="32316746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8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048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Backpropagation</a:t>
            </a:r>
            <a:endParaRPr/>
          </a:p>
        </p:txBody>
      </p:sp>
      <p:sp>
        <p:nvSpPr>
          <p:cNvPr id="1361794399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Needs a differentiable activation function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971819000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7" y="1258488"/>
            <a:ext cx="4038597" cy="33361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net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=Z=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-net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966480" name="Title 1"/>
          <p:cNvSpPr>
            <a:spLocks noGrp="1"/>
          </p:cNvSpPr>
          <p:nvPr>
            <p:ph type="title"/>
          </p:nvPr>
        </p:nvSpPr>
        <p:spPr bwMode="auto">
          <a:xfrm>
            <a:off x="722313" y="1035561"/>
            <a:ext cx="7772400" cy="1021555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Gathering data</a:t>
            </a:r>
            <a:endParaRPr/>
          </a:p>
        </p:txBody>
      </p:sp>
      <p:sp>
        <p:nvSpPr>
          <p:cNvPr id="2677559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4"/>
            <a:ext cx="7772400" cy="112513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67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Determining Variables</a:t>
            </a:r>
            <a:endParaRPr/>
          </a:p>
        </p:txBody>
      </p:sp>
      <p:sp>
        <p:nvSpPr>
          <p:cNvPr id="10503382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input_history.txt</a:t>
            </a:r>
            <a:endParaRPr/>
          </a:p>
          <a:p>
            <a:pPr lvl="1">
              <a:defRPr/>
            </a:pPr>
            <a:r>
              <a:rPr/>
              <a:t>time (hr)</a:t>
            </a:r>
            <a:endParaRPr/>
          </a:p>
          <a:p>
            <a:pPr lvl="1">
              <a:defRPr/>
            </a:pPr>
            <a:r>
              <a:rPr/>
              <a:t>Temperature (K)</a:t>
            </a:r>
            <a:endParaRPr/>
          </a:p>
          <a:p>
            <a:pPr lvl="1">
              <a:defRPr/>
            </a:pPr>
            <a:r>
              <a:rPr/>
              <a:t>Fission Rate (fissions/m^3*s)</a:t>
            </a:r>
            <a:endParaRPr/>
          </a:p>
          <a:p>
            <a:pPr lvl="1">
              <a:defRPr/>
            </a:pPr>
            <a:r>
              <a:rPr/>
              <a:t>Hydrostatic Stress (MPa)</a:t>
            </a:r>
            <a:endParaRPr/>
          </a:p>
          <a:p>
            <a:pPr lvl="0">
              <a:defRPr/>
            </a:pPr>
            <a:r>
              <a:rPr/>
              <a:t>Code linearly interpolates between entries</a:t>
            </a:r>
            <a:endParaRPr/>
          </a:p>
        </p:txBody>
      </p:sp>
      <p:pic>
        <p:nvPicPr>
          <p:cNvPr id="17629474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58167" y="3757782"/>
            <a:ext cx="3028950" cy="71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266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Time</a:t>
            </a:r>
            <a:endParaRPr/>
          </a:p>
        </p:txBody>
      </p:sp>
      <p:sp>
        <p:nvSpPr>
          <p:cNvPr id="20854518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PWRs refuel every 18 months</a:t>
            </a:r>
            <a:endParaRPr/>
          </a:p>
          <a:p>
            <a:pPr>
              <a:defRPr/>
            </a:pPr>
            <a:r>
              <a:rPr/>
              <a:t>BWRs refuel every 24 months</a:t>
            </a:r>
            <a:endParaRPr/>
          </a:p>
          <a:p>
            <a:pPr>
              <a:defRPr/>
            </a:pPr>
            <a:r>
              <a:rPr/>
              <a:t>One-third of the fuel is shuffled every fuel cycle</a:t>
            </a:r>
            <a:endParaRPr/>
          </a:p>
          <a:p>
            <a:pPr>
              <a:defRPr/>
            </a:pPr>
            <a:r>
              <a:rPr/>
              <a:t>Average capacity factor is 92.7%</a:t>
            </a:r>
            <a:r>
              <a:rPr baseline="30000"/>
              <a:t>1</a:t>
            </a:r>
            <a:endParaRPr/>
          </a:p>
        </p:txBody>
      </p:sp>
      <p:sp>
        <p:nvSpPr>
          <p:cNvPr id="1711397887" name=""/>
          <p:cNvSpPr txBox="1"/>
          <p:nvPr/>
        </p:nvSpPr>
        <p:spPr bwMode="auto">
          <a:xfrm rot="0" flipH="0" flipV="0">
            <a:off x="457199" y="4594621"/>
            <a:ext cx="82303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900" u="none">
                <a:solidFill>
                  <a:schemeClr val="tx1"/>
                </a:solidFill>
              </a:rPr>
              <a:t>Source: </a:t>
            </a:r>
            <a:r>
              <a:rPr lang="en-US" sz="900" b="0" i="0" strike="noStrike" cap="none" spc="0">
                <a:latin typeface="Calibri"/>
                <a:ea typeface="Calibri"/>
                <a:cs typeface="Calibri"/>
              </a:rPr>
              <a:t>https://www.nei.org/resources/statistics/us-nuclear-operating-plant-basic-information</a:t>
            </a:r>
            <a:r>
              <a:rPr sz="1000" u="none">
                <a:solidFill>
                  <a:schemeClr val="tx1"/>
                </a:solidFill>
              </a:rPr>
              <a:t> </a:t>
            </a:r>
            <a:r>
              <a:rPr sz="900" u="none">
                <a:solidFill>
                  <a:schemeClr val="tx1"/>
                </a:solidFill>
              </a:rPr>
              <a:t>Received data from U.S. Energy Information Administration, updated July 2023</a:t>
            </a:r>
            <a:endParaRPr sz="900" u="none">
              <a:solidFill>
                <a:schemeClr val="tx1"/>
              </a:solidFill>
            </a:endParaRPr>
          </a:p>
        </p:txBody>
      </p:sp>
      <p:sp>
        <p:nvSpPr>
          <p:cNvPr id="1414905902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4648199" y="1258489"/>
            <a:ext cx="4038598" cy="33361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Operating Hours=3 cycles⋅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 months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cycle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30 days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month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 hours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day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⋅92.7% capacity factor=48,056 hours≈50,000 hours</m:t>
                      </m:r>
                    </m:oMath>
                  </m:oMathPara>
                </a14:m>
              </mc:Choice>
              <mc:Fallback/>
            </mc:AlternateContent>
            <a:endParaRPr lang="en-US" sz="24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996884940" name=""/>
          <p:cNvSpPr/>
          <p:nvPr/>
        </p:nvSpPr>
        <p:spPr bwMode="auto">
          <a:xfrm>
            <a:off x="4480362" y="238869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ONLYOFFICE/9.2.0.100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NC State University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B Dearmon</dc:creator>
  <cp:lastModifiedBy/>
  <cp:revision>9</cp:revision>
  <dcterms:created xsi:type="dcterms:W3CDTF">2014-04-10T19:16:28Z</dcterms:created>
  <dcterms:modified xsi:type="dcterms:W3CDTF">2026-03-04T22:08:53Z</dcterms:modified>
</cp:coreProperties>
</file>